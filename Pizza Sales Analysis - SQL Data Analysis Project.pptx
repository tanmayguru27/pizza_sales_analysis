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6256000" cy="9144000"/>
  <p:notesSz cx="9144000" cy="16256000"/>
  <p:embeddedFontLst>
    <p:embeddedFont>
      <p:font typeface="Liter" charset="-122" pitchFamily="34"/>
      <p:regular r:id="rId20"/>
    </p:embeddedFont>
    <p:embeddedFont>
      <p:font typeface="Quattrocento Sans" charset="-122" pitchFamily="34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font" Target="fonts/font1.fntdata"/><Relationship Id="rId21" Type="http://schemas.openxmlformats.org/officeDocument/2006/relationships/font" Target="fonts/font2.fntdata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Number of Queries</c:v>
                </c:pt>
              </c:strCache>
            </c:strRef>
          </c:tx>
          <c:spPr>
            <a:solidFill>
              <a:srgbClr val="D4A0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0EDE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Joins</c:v>
                  </c:pt>
                  <c:pt idx="1">
                    <c:v>Aggregations</c:v>
                  </c:pt>
                  <c:pt idx="2">
                    <c:v>Subqueries</c:v>
                  </c:pt>
                  <c:pt idx="3">
                    <c:v>Window Funcs</c:v>
                  </c:pt>
                  <c:pt idx="4">
                    <c:v>CTEs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18</c:v>
                </c:pt>
                <c:pt idx="2">
                  <c:v>8</c:v>
                </c:pt>
                <c:pt idx="3">
                  <c:v>6</c:v>
                </c:pt>
                <c:pt idx="4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0EDE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8A9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2a2a3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8A9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Orders</c:v>
                </c:pt>
              </c:strCache>
            </c:strRef>
          </c:tx>
          <c:spPr>
            <a:solidFill>
              <a:srgbClr val="D4A03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0EDE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Large</c:v>
                  </c:pt>
                  <c:pt idx="1">
                    <c:v>Medium</c:v>
                  </c:pt>
                  <c:pt idx="2">
                    <c:v>Small</c:v>
                  </c:pt>
                  <c:pt idx="3">
                    <c:v>XL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45.9</c:v>
                </c:pt>
                <c:pt idx="1">
                  <c:v>30.5</c:v>
                </c:pt>
                <c:pt idx="2">
                  <c:v>15.8</c:v>
                </c:pt>
                <c:pt idx="3">
                  <c:v>7.8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F0EDE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A8A9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2a2a3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A8A9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E87A5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10AM</c:v>
                  </c:pt>
                  <c:pt idx="1">
                    <c:v>11AM</c:v>
                  </c:pt>
                  <c:pt idx="2">
                    <c:v>12PM</c:v>
                  </c:pt>
                  <c:pt idx="3">
                    <c:v>1PM</c:v>
                  </c:pt>
                  <c:pt idx="4">
                    <c:v>2PM</c:v>
                  </c:pt>
                  <c:pt idx="5">
                    <c:v>3PM</c:v>
                  </c:pt>
                  <c:pt idx="6">
                    <c:v>4PM</c:v>
                  </c:pt>
                  <c:pt idx="7">
                    <c:v>5PM</c:v>
                  </c:pt>
                  <c:pt idx="8">
                    <c:v>6PM</c:v>
                  </c:pt>
                  <c:pt idx="9">
                    <c:v>7PM</c:v>
                  </c:pt>
                  <c:pt idx="10">
                    <c:v>8PM</c:v>
                  </c:pt>
                  <c:pt idx="11">
                    <c:v>9PM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520</c:v>
                </c:pt>
                <c:pt idx="1">
                  <c:v>1280</c:v>
                </c:pt>
                <c:pt idx="2">
                  <c:v>2150</c:v>
                </c:pt>
                <c:pt idx="3">
                  <c:v>1980</c:v>
                </c:pt>
                <c:pt idx="4">
                  <c:v>1120</c:v>
                </c:pt>
                <c:pt idx="5">
                  <c:v>680</c:v>
                </c:pt>
                <c:pt idx="6">
                  <c:v>890</c:v>
                </c:pt>
                <c:pt idx="7">
                  <c:v>1750</c:v>
                </c:pt>
                <c:pt idx="8">
                  <c:v>1680</c:v>
                </c:pt>
                <c:pt idx="9">
                  <c:v>980</c:v>
                </c:pt>
                <c:pt idx="10">
                  <c:v>520</c:v>
                </c:pt>
                <c:pt idx="11">
                  <c:v>280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8A9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spPr>
            <a:solidFill>
              <a:srgbClr val="D4A03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0EDE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Thai Chicken</c:v>
                  </c:pt>
                  <c:pt idx="1">
                    <c:v>BBQ Chicken</c:v>
                  </c:pt>
                  <c:pt idx="2">
                    <c:v>California Chicken</c:v>
                  </c:pt>
                  <c:pt idx="3">
                    <c:v>Classic Deluxe</c:v>
                  </c:pt>
                  <c:pt idx="4">
                    <c:v>Spicy Italian</c:v>
                  </c:pt>
                  <c:pt idx="5">
                    <c:v>Southwest Chicken</c:v>
                  </c:pt>
                  <c:pt idx="6">
                    <c:v>Pepperoni</c:v>
                  </c:pt>
                  <c:pt idx="7">
                    <c:v>Hawaiian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43.4</c:v>
                </c:pt>
                <c:pt idx="1">
                  <c:v>42.7</c:v>
                </c:pt>
                <c:pt idx="2">
                  <c:v>41.1</c:v>
                </c:pt>
                <c:pt idx="3">
                  <c:v>38.1</c:v>
                </c:pt>
                <c:pt idx="4">
                  <c:v>35.1</c:v>
                </c:pt>
                <c:pt idx="5">
                  <c:v>34.7</c:v>
                </c:pt>
                <c:pt idx="6">
                  <c:v>33.2</c:v>
                </c:pt>
                <c:pt idx="7">
                  <c:v>32.3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F0EDE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A2A35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8A9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a2a3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Revenue ($K)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A8A9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Daily Orders</c:v>
                </c:pt>
              </c:strCache>
            </c:strRef>
          </c:tx>
          <c:spPr>
            <a:solidFill>
              <a:srgbClr val="D4A03A"/>
            </a:solidFill>
            <a:ln w="25400" cap="flat">
              <a:solidFill>
                <a:srgbClr val="D4A03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4A03A"/>
              </a:solidFill>
              <a:ln w="9525" cap="flat">
                <a:solidFill>
                  <a:srgbClr val="D4A0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1850</c:v>
                </c:pt>
                <c:pt idx="1">
                  <c:v>1620</c:v>
                </c:pt>
                <c:pt idx="2">
                  <c:v>1780</c:v>
                </c:pt>
                <c:pt idx="3">
                  <c:v>1950</c:v>
                </c:pt>
                <c:pt idx="4">
                  <c:v>2100</c:v>
                </c:pt>
                <c:pt idx="5">
                  <c:v>2320</c:v>
                </c:pt>
                <c:pt idx="6">
                  <c:v>2480</c:v>
                </c:pt>
                <c:pt idx="7">
                  <c:v>2250</c:v>
                </c:pt>
                <c:pt idx="8">
                  <c:v>1980</c:v>
                </c:pt>
                <c:pt idx="9">
                  <c:v>2150</c:v>
                </c:pt>
                <c:pt idx="10">
                  <c:v>2380</c:v>
                </c:pt>
                <c:pt idx="11">
                  <c:v>2490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A2A35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A8A9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a2a3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A8A9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4A03A"/>
              </a:solidFill>
              <a:effectLst/>
            </c:spPr>
          </c:dPt>
          <c:dPt>
            <c:idx val="1"/>
            <c:bubble3D val="0"/>
            <c:spPr>
              <a:solidFill>
                <a:srgbClr val="E87A5D"/>
              </a:solidFill>
              <a:effectLst/>
            </c:spPr>
          </c:dPt>
          <c:dPt>
            <c:idx val="2"/>
            <c:bubble3D val="0"/>
            <c:spPr>
              <a:solidFill>
                <a:srgbClr val="6B9BD1"/>
              </a:solidFill>
              <a:effectLst/>
            </c:spPr>
          </c:dPt>
          <c:dPt>
            <c:idx val="3"/>
            <c:bubble3D val="0"/>
            <c:spPr>
              <a:solidFill>
                <a:srgbClr val="5DBE8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0EDE6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0EDE6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0EDE6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0EDE6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Classic</c:v>
                </c:pt>
                <c:pt idx="1">
                  <c:v>Supreme</c:v>
                </c:pt>
                <c:pt idx="2">
                  <c:v>Chicken</c:v>
                </c:pt>
                <c:pt idx="3">
                  <c:v>Veggie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26.9</c:v>
                </c:pt>
                <c:pt idx="1">
                  <c:v>25.5</c:v>
                </c:pt>
                <c:pt idx="2">
                  <c:v>24</c:v>
                </c:pt>
                <c:pt idx="3">
                  <c:v>23.6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8A8A9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bgqw5tvjicdtk/mnt/agents/output/pizza_sales/images/5_Pizza_Dark_Background_Images_Browse.png">    </p:cNvPr>
          <p:cNvPicPr>
            <a:picLocks noChangeAspect="1"/>
          </p:cNvPicPr>
          <p:nvPr/>
        </p:nvPicPr>
        <p:blipFill>
          <a:blip r:embed="rId1"/>
          <a:srcRect l="0" r="0" t="7812" b="7812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41419"/>
              </a:gs>
              <a:gs pos="55000">
                <a:srgbClr val="141419">
                  <a:alpha val="94000"/>
                </a:srgbClr>
              </a:gs>
              <a:gs pos="85000">
                <a:srgbClr val="141419">
                  <a:alpha val="50000"/>
                </a:srgbClr>
              </a:gs>
              <a:gs pos="100000">
                <a:srgbClr val="141419">
                  <a:alpha val="13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62000" y="2540000"/>
            <a:ext cx="1016000" cy="50800"/>
          </a:xfrm>
          <a:prstGeom prst="rect">
            <a:avLst/>
          </a:prstGeom>
          <a:solidFill>
            <a:srgbClr val="D4A03A"/>
          </a:solidFill>
          <a:ln/>
        </p:spPr>
      </p:sp>
      <p:sp>
        <p:nvSpPr>
          <p:cNvPr id="5" name="Text 2"/>
          <p:cNvSpPr/>
          <p:nvPr/>
        </p:nvSpPr>
        <p:spPr>
          <a:xfrm>
            <a:off x="762000" y="2794000"/>
            <a:ext cx="889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5200" spc="600" kern="0" dirty="0">
                <a:solidFill>
                  <a:srgbClr val="F0ED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PIZZA SALES</a:t>
            </a:r>
            <a:endParaRPr lang="en-US" sz="4800" dirty="0"/>
          </a:p>
          <a:p>
            <a:pPr>
              <a:lnSpc>
                <a:spcPct val="120000"/>
              </a:lnSpc>
            </a:pPr>
            <a:r>
              <a:rPr lang="en-US" sz="5200" spc="600" kern="0" dirty="0">
                <a:solidFill>
                  <a:srgbClr val="F0ED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ANALYSIS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762000" y="469900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spc="200" kern="0" dirty="0">
                <a:solidFill>
                  <a:srgbClr val="F0EDE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SQL DATA ANALYSIS PROJECT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62000" y="5334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8A8A9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PREPARED BY TANMAY GURU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62000" y="8382000"/>
            <a:ext cx="2540000" cy="25400"/>
          </a:xfrm>
          <a:prstGeom prst="rect">
            <a:avLst/>
          </a:prstGeom>
          <a:solidFill>
            <a:srgbClr val="D4A03A">
              <a:alpha val="40000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D4A03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635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400" kern="0" dirty="0">
                <a:solidFill>
                  <a:srgbClr val="8A8A9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AGENDA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1016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D4A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841500"/>
            <a:ext cx="14732000" cy="12700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2286000"/>
            <a:ext cx="4572000" cy="5842000"/>
          </a:xfrm>
          <a:prstGeom prst="rect">
            <a:avLst/>
          </a:prstGeom>
          <a:solidFill>
            <a:srgbClr val="1E1E26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2286000"/>
            <a:ext cx="50800" cy="5842000"/>
          </a:xfrm>
          <a:prstGeom prst="rect">
            <a:avLst/>
          </a:prstGeom>
          <a:solidFill>
            <a:srgbClr val="D4A03A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667000"/>
            <a:ext cx="1524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D4A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36830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0ED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4318000"/>
            <a:ext cx="381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8A8A9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Scope, tools, technologies, and project objectives for the pizza sales analysis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143000" y="7112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1600" y="254000"/>
                </a:moveTo>
                <a:lnTo>
                  <a:pt x="19447" y="254000"/>
                </a:lnTo>
                <a:cubicBezTo>
                  <a:pt x="-317" y="254000"/>
                  <a:pt x="-12462" y="232489"/>
                  <a:pt x="-2302" y="215503"/>
                </a:cubicBezTo>
                <a:lnTo>
                  <a:pt x="39688" y="145494"/>
                </a:lnTo>
                <a:cubicBezTo>
                  <a:pt x="46593" y="133985"/>
                  <a:pt x="58976" y="127000"/>
                  <a:pt x="72390" y="127000"/>
                </a:cubicBezTo>
                <a:lnTo>
                  <a:pt x="147796" y="127000"/>
                </a:lnTo>
                <a:cubicBezTo>
                  <a:pt x="208201" y="24686"/>
                  <a:pt x="298291" y="19526"/>
                  <a:pt x="358537" y="28337"/>
                </a:cubicBezTo>
                <a:cubicBezTo>
                  <a:pt x="368697" y="29845"/>
                  <a:pt x="376634" y="37783"/>
                  <a:pt x="378063" y="47863"/>
                </a:cubicBezTo>
                <a:cubicBezTo>
                  <a:pt x="386874" y="108109"/>
                  <a:pt x="381714" y="198199"/>
                  <a:pt x="279400" y="258604"/>
                </a:cubicBezTo>
                <a:lnTo>
                  <a:pt x="279400" y="334010"/>
                </a:lnTo>
                <a:cubicBezTo>
                  <a:pt x="279400" y="347424"/>
                  <a:pt x="272415" y="359807"/>
                  <a:pt x="260906" y="366713"/>
                </a:cubicBezTo>
                <a:lnTo>
                  <a:pt x="190897" y="408702"/>
                </a:lnTo>
                <a:cubicBezTo>
                  <a:pt x="173990" y="418862"/>
                  <a:pt x="152400" y="406638"/>
                  <a:pt x="152400" y="386953"/>
                </a:cubicBezTo>
                <a:lnTo>
                  <a:pt x="152400" y="304800"/>
                </a:lnTo>
                <a:cubicBezTo>
                  <a:pt x="152400" y="276781"/>
                  <a:pt x="129619" y="254000"/>
                  <a:pt x="101600" y="254000"/>
                </a:cubicBezTo>
                <a:lnTo>
                  <a:pt x="101521" y="254000"/>
                </a:lnTo>
                <a:close/>
                <a:moveTo>
                  <a:pt x="317500" y="127000"/>
                </a:moveTo>
                <a:cubicBezTo>
                  <a:pt x="317500" y="105972"/>
                  <a:pt x="300428" y="88900"/>
                  <a:pt x="279400" y="88900"/>
                </a:cubicBezTo>
                <a:cubicBezTo>
                  <a:pt x="258372" y="88900"/>
                  <a:pt x="241300" y="105972"/>
                  <a:pt x="241300" y="127000"/>
                </a:cubicBezTo>
                <a:cubicBezTo>
                  <a:pt x="241300" y="148028"/>
                  <a:pt x="258372" y="165100"/>
                  <a:pt x="279400" y="165100"/>
                </a:cubicBezTo>
                <a:cubicBezTo>
                  <a:pt x="300428" y="165100"/>
                  <a:pt x="317500" y="148028"/>
                  <a:pt x="317500" y="127000"/>
                </a:cubicBezTo>
                <a:close/>
              </a:path>
            </a:pathLst>
          </a:custGeom>
          <a:solidFill>
            <a:srgbClr val="D4A03A"/>
          </a:solidFill>
          <a:ln/>
        </p:spPr>
      </p:sp>
      <p:sp>
        <p:nvSpPr>
          <p:cNvPr id="12" name="Shape 10"/>
          <p:cNvSpPr/>
          <p:nvPr/>
        </p:nvSpPr>
        <p:spPr>
          <a:xfrm>
            <a:off x="5842000" y="2286000"/>
            <a:ext cx="4572000" cy="5842000"/>
          </a:xfrm>
          <a:prstGeom prst="rect">
            <a:avLst/>
          </a:prstGeom>
          <a:solidFill>
            <a:srgbClr val="1E1E26"/>
          </a:solidFill>
          <a:ln/>
        </p:spPr>
      </p:sp>
      <p:sp>
        <p:nvSpPr>
          <p:cNvPr id="13" name="Shape 11"/>
          <p:cNvSpPr/>
          <p:nvPr/>
        </p:nvSpPr>
        <p:spPr>
          <a:xfrm>
            <a:off x="5842000" y="2286000"/>
            <a:ext cx="50800" cy="5842000"/>
          </a:xfrm>
          <a:prstGeom prst="rect">
            <a:avLst/>
          </a:prstGeom>
          <a:solidFill>
            <a:srgbClr val="D4A03A"/>
          </a:solidFill>
          <a:ln/>
        </p:spPr>
      </p:sp>
      <p:sp>
        <p:nvSpPr>
          <p:cNvPr id="14" name="Text 12"/>
          <p:cNvSpPr/>
          <p:nvPr/>
        </p:nvSpPr>
        <p:spPr>
          <a:xfrm>
            <a:off x="6223000" y="2667000"/>
            <a:ext cx="1524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D4A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23000" y="36830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0ED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 Analysis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23000" y="4318000"/>
            <a:ext cx="381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8A8A9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Query techniques, SQL concepts applied, and key business questions answered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248400" y="71120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355600" y="163354"/>
                </a:moveTo>
                <a:cubicBezTo>
                  <a:pt x="343853" y="171133"/>
                  <a:pt x="330359" y="177403"/>
                  <a:pt x="316309" y="182404"/>
                </a:cubicBezTo>
                <a:cubicBezTo>
                  <a:pt x="279003" y="195739"/>
                  <a:pt x="230029" y="203200"/>
                  <a:pt x="177800" y="203200"/>
                </a:cubicBezTo>
                <a:cubicBezTo>
                  <a:pt x="125571" y="203200"/>
                  <a:pt x="76518" y="195659"/>
                  <a:pt x="39291" y="182404"/>
                </a:cubicBezTo>
                <a:cubicBezTo>
                  <a:pt x="25321" y="177403"/>
                  <a:pt x="11747" y="171133"/>
                  <a:pt x="0" y="163354"/>
                </a:cubicBezTo>
                <a:lnTo>
                  <a:pt x="0" y="228600"/>
                </a:lnTo>
                <a:cubicBezTo>
                  <a:pt x="0" y="263684"/>
                  <a:pt x="79613" y="292100"/>
                  <a:pt x="177800" y="292100"/>
                </a:cubicBezTo>
                <a:cubicBezTo>
                  <a:pt x="275987" y="292100"/>
                  <a:pt x="355600" y="263684"/>
                  <a:pt x="355600" y="228600"/>
                </a:cubicBezTo>
                <a:lnTo>
                  <a:pt x="355600" y="163354"/>
                </a:lnTo>
                <a:close/>
                <a:moveTo>
                  <a:pt x="355600" y="101600"/>
                </a:moveTo>
                <a:lnTo>
                  <a:pt x="355600" y="63500"/>
                </a:lnTo>
                <a:cubicBezTo>
                  <a:pt x="355600" y="28416"/>
                  <a:pt x="275987" y="0"/>
                  <a:pt x="177800" y="0"/>
                </a:cubicBezTo>
                <a:cubicBezTo>
                  <a:pt x="79613" y="0"/>
                  <a:pt x="0" y="28416"/>
                  <a:pt x="0" y="63500"/>
                </a:cubicBezTo>
                <a:lnTo>
                  <a:pt x="0" y="101600"/>
                </a:lnTo>
                <a:cubicBezTo>
                  <a:pt x="0" y="136684"/>
                  <a:pt x="79613" y="165100"/>
                  <a:pt x="177800" y="165100"/>
                </a:cubicBezTo>
                <a:cubicBezTo>
                  <a:pt x="275987" y="165100"/>
                  <a:pt x="355600" y="136684"/>
                  <a:pt x="355600" y="101600"/>
                </a:cubicBezTo>
                <a:close/>
                <a:moveTo>
                  <a:pt x="316309" y="309404"/>
                </a:moveTo>
                <a:cubicBezTo>
                  <a:pt x="279083" y="322659"/>
                  <a:pt x="230108" y="330200"/>
                  <a:pt x="177800" y="330200"/>
                </a:cubicBezTo>
                <a:cubicBezTo>
                  <a:pt x="125492" y="330200"/>
                  <a:pt x="76518" y="322659"/>
                  <a:pt x="39291" y="309404"/>
                </a:cubicBezTo>
                <a:cubicBezTo>
                  <a:pt x="25321" y="304403"/>
                  <a:pt x="11747" y="298133"/>
                  <a:pt x="0" y="290354"/>
                </a:cubicBezTo>
                <a:lnTo>
                  <a:pt x="0" y="342900"/>
                </a:lnTo>
                <a:cubicBezTo>
                  <a:pt x="0" y="377984"/>
                  <a:pt x="79613" y="406400"/>
                  <a:pt x="177800" y="406400"/>
                </a:cubicBezTo>
                <a:cubicBezTo>
                  <a:pt x="275987" y="406400"/>
                  <a:pt x="355600" y="377984"/>
                  <a:pt x="355600" y="342900"/>
                </a:cubicBezTo>
                <a:lnTo>
                  <a:pt x="355600" y="290354"/>
                </a:lnTo>
                <a:cubicBezTo>
                  <a:pt x="343853" y="298133"/>
                  <a:pt x="330359" y="304403"/>
                  <a:pt x="316309" y="309404"/>
                </a:cubicBezTo>
                <a:close/>
              </a:path>
            </a:pathLst>
          </a:custGeom>
          <a:solidFill>
            <a:srgbClr val="D4A03A"/>
          </a:solidFill>
          <a:ln/>
        </p:spPr>
      </p:sp>
      <p:sp>
        <p:nvSpPr>
          <p:cNvPr id="18" name="Shape 16"/>
          <p:cNvSpPr/>
          <p:nvPr/>
        </p:nvSpPr>
        <p:spPr>
          <a:xfrm>
            <a:off x="10922000" y="2286000"/>
            <a:ext cx="4572000" cy="5842000"/>
          </a:xfrm>
          <a:prstGeom prst="rect">
            <a:avLst/>
          </a:prstGeom>
          <a:solidFill>
            <a:srgbClr val="1E1E26"/>
          </a:solidFill>
          <a:ln/>
        </p:spPr>
      </p:sp>
      <p:sp>
        <p:nvSpPr>
          <p:cNvPr id="19" name="Shape 17"/>
          <p:cNvSpPr/>
          <p:nvPr/>
        </p:nvSpPr>
        <p:spPr>
          <a:xfrm>
            <a:off x="10922000" y="2286000"/>
            <a:ext cx="50800" cy="5842000"/>
          </a:xfrm>
          <a:prstGeom prst="rect">
            <a:avLst/>
          </a:prstGeom>
          <a:solidFill>
            <a:srgbClr val="D4A03A"/>
          </a:solidFill>
          <a:ln/>
        </p:spPr>
      </p:sp>
      <p:sp>
        <p:nvSpPr>
          <p:cNvPr id="20" name="Text 18"/>
          <p:cNvSpPr/>
          <p:nvPr/>
        </p:nvSpPr>
        <p:spPr>
          <a:xfrm>
            <a:off x="11303000" y="2667000"/>
            <a:ext cx="1524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D4A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303000" y="36830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0ED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Findings &amp; Insights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303000" y="4318000"/>
            <a:ext cx="381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8A8A9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Data-driven results, sales trends, category performance, and strategic recommendations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1303000" y="7112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50800"/>
                </a:moveTo>
                <a:cubicBezTo>
                  <a:pt x="50800" y="36751"/>
                  <a:pt x="39449" y="25400"/>
                  <a:pt x="25400" y="25400"/>
                </a:cubicBezTo>
                <a:cubicBezTo>
                  <a:pt x="11351" y="25400"/>
                  <a:pt x="0" y="36751"/>
                  <a:pt x="0" y="50800"/>
                </a:cubicBezTo>
                <a:lnTo>
                  <a:pt x="0" y="317500"/>
                </a:lnTo>
                <a:cubicBezTo>
                  <a:pt x="0" y="352584"/>
                  <a:pt x="28416" y="381000"/>
                  <a:pt x="63500" y="381000"/>
                </a:cubicBezTo>
                <a:lnTo>
                  <a:pt x="381000" y="381000"/>
                </a:lnTo>
                <a:cubicBezTo>
                  <a:pt x="395049" y="381000"/>
                  <a:pt x="406400" y="369649"/>
                  <a:pt x="406400" y="355600"/>
                </a:cubicBezTo>
                <a:cubicBezTo>
                  <a:pt x="406400" y="341551"/>
                  <a:pt x="395049" y="330200"/>
                  <a:pt x="381000" y="330200"/>
                </a:cubicBezTo>
                <a:lnTo>
                  <a:pt x="63500" y="330200"/>
                </a:lnTo>
                <a:cubicBezTo>
                  <a:pt x="56515" y="330200"/>
                  <a:pt x="50800" y="324485"/>
                  <a:pt x="50800" y="317500"/>
                </a:cubicBezTo>
                <a:lnTo>
                  <a:pt x="50800" y="50800"/>
                </a:lnTo>
                <a:close/>
                <a:moveTo>
                  <a:pt x="373539" y="119539"/>
                </a:moveTo>
                <a:cubicBezTo>
                  <a:pt x="383461" y="109617"/>
                  <a:pt x="383461" y="93504"/>
                  <a:pt x="373539" y="83582"/>
                </a:cubicBezTo>
                <a:cubicBezTo>
                  <a:pt x="363617" y="73660"/>
                  <a:pt x="347504" y="73660"/>
                  <a:pt x="337582" y="83582"/>
                </a:cubicBezTo>
                <a:lnTo>
                  <a:pt x="254000" y="167243"/>
                </a:lnTo>
                <a:lnTo>
                  <a:pt x="208439" y="121761"/>
                </a:lnTo>
                <a:cubicBezTo>
                  <a:pt x="198517" y="111839"/>
                  <a:pt x="182404" y="111839"/>
                  <a:pt x="172482" y="121761"/>
                </a:cubicBezTo>
                <a:lnTo>
                  <a:pt x="96282" y="197961"/>
                </a:lnTo>
                <a:cubicBezTo>
                  <a:pt x="86360" y="207883"/>
                  <a:pt x="86360" y="223996"/>
                  <a:pt x="96282" y="233918"/>
                </a:cubicBezTo>
                <a:cubicBezTo>
                  <a:pt x="106204" y="243840"/>
                  <a:pt x="122317" y="243840"/>
                  <a:pt x="132239" y="233918"/>
                </a:cubicBezTo>
                <a:lnTo>
                  <a:pt x="190500" y="175657"/>
                </a:lnTo>
                <a:lnTo>
                  <a:pt x="236061" y="221218"/>
                </a:lnTo>
                <a:cubicBezTo>
                  <a:pt x="245983" y="231140"/>
                  <a:pt x="262096" y="231140"/>
                  <a:pt x="272018" y="221218"/>
                </a:cubicBezTo>
                <a:lnTo>
                  <a:pt x="373618" y="119618"/>
                </a:lnTo>
                <a:close/>
              </a:path>
            </a:pathLst>
          </a:custGeom>
          <a:solidFill>
            <a:srgbClr val="D4A03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bgqw5tvjicdtk/mnt/agents/output/pizza_sales/images/2_Pepperoni_pizza_restaurant_dark_background.png">    </p:cNvPr>
          <p:cNvPicPr>
            <a:picLocks noChangeAspect="1"/>
          </p:cNvPicPr>
          <p:nvPr/>
        </p:nvPicPr>
        <p:blipFill>
          <a:blip r:embed="rId1"/>
          <a:srcRect l="14611" r="14611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41419">
                  <a:alpha val="25000"/>
                </a:srgbClr>
              </a:gs>
              <a:gs pos="40000">
                <a:srgbClr val="141419">
                  <a:alpha val="69000"/>
                </a:srgbClr>
              </a:gs>
              <a:gs pos="100000">
                <a:srgbClr val="141419">
                  <a:alpha val="94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588000" y="2794000"/>
            <a:ext cx="508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7200" spc="600" kern="0" dirty="0">
                <a:solidFill>
                  <a:srgbClr val="D4A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493000" y="4064000"/>
            <a:ext cx="1270000" cy="38100"/>
          </a:xfrm>
          <a:prstGeom prst="rect">
            <a:avLst/>
          </a:prstGeom>
          <a:solidFill>
            <a:srgbClr val="D4A03A"/>
          </a:solidFill>
          <a:ln/>
        </p:spPr>
      </p:sp>
      <p:sp>
        <p:nvSpPr>
          <p:cNvPr id="6" name="Text 3"/>
          <p:cNvSpPr/>
          <p:nvPr/>
        </p:nvSpPr>
        <p:spPr>
          <a:xfrm>
            <a:off x="3683000" y="4318000"/>
            <a:ext cx="889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spc="400" kern="0" dirty="0">
                <a:solidFill>
                  <a:srgbClr val="F0ED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318000" y="5270500"/>
            <a:ext cx="762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8A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the scope, tools, and objectives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D4A03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D4A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41400"/>
            <a:ext cx="14732000" cy="12700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33500"/>
            <a:ext cx="4572000" cy="1651000"/>
          </a:xfrm>
          <a:prstGeom prst="rect">
            <a:avLst/>
          </a:prstGeom>
          <a:solidFill>
            <a:srgbClr val="1E1E26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460500"/>
            <a:ext cx="4064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dirty="0">
                <a:solidFill>
                  <a:srgbClr val="D4A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21,350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016000" y="2222500"/>
            <a:ext cx="3429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8A8A9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TOTAL ORDERS ANALYZED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43450" y="2349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9723" y="1528"/>
                </a:moveTo>
                <a:cubicBezTo>
                  <a:pt x="15627" y="-1181"/>
                  <a:pt x="22572" y="-208"/>
                  <a:pt x="27503" y="4028"/>
                </a:cubicBezTo>
                <a:lnTo>
                  <a:pt x="55563" y="28059"/>
                </a:lnTo>
                <a:lnTo>
                  <a:pt x="83622" y="4028"/>
                </a:lnTo>
                <a:cubicBezTo>
                  <a:pt x="89872" y="-1320"/>
                  <a:pt x="99110" y="-1320"/>
                  <a:pt x="105291" y="4028"/>
                </a:cubicBezTo>
                <a:lnTo>
                  <a:pt x="133350" y="28059"/>
                </a:lnTo>
                <a:lnTo>
                  <a:pt x="161409" y="4028"/>
                </a:lnTo>
                <a:cubicBezTo>
                  <a:pt x="167660" y="-1320"/>
                  <a:pt x="176828" y="-1320"/>
                  <a:pt x="183078" y="4028"/>
                </a:cubicBezTo>
                <a:lnTo>
                  <a:pt x="211138" y="28059"/>
                </a:lnTo>
                <a:lnTo>
                  <a:pt x="239197" y="4028"/>
                </a:lnTo>
                <a:cubicBezTo>
                  <a:pt x="244128" y="-208"/>
                  <a:pt x="251073" y="-1181"/>
                  <a:pt x="256977" y="1528"/>
                </a:cubicBezTo>
                <a:cubicBezTo>
                  <a:pt x="262880" y="4237"/>
                  <a:pt x="266700" y="10140"/>
                  <a:pt x="266700" y="16669"/>
                </a:cubicBezTo>
                <a:lnTo>
                  <a:pt x="266700" y="338931"/>
                </a:lnTo>
                <a:cubicBezTo>
                  <a:pt x="266700" y="345460"/>
                  <a:pt x="262880" y="351363"/>
                  <a:pt x="256977" y="354072"/>
                </a:cubicBezTo>
                <a:cubicBezTo>
                  <a:pt x="251073" y="356781"/>
                  <a:pt x="244128" y="355808"/>
                  <a:pt x="239197" y="351572"/>
                </a:cubicBezTo>
                <a:lnTo>
                  <a:pt x="211138" y="327541"/>
                </a:lnTo>
                <a:lnTo>
                  <a:pt x="183078" y="351572"/>
                </a:lnTo>
                <a:cubicBezTo>
                  <a:pt x="176828" y="356920"/>
                  <a:pt x="167660" y="356920"/>
                  <a:pt x="161409" y="351572"/>
                </a:cubicBezTo>
                <a:lnTo>
                  <a:pt x="133350" y="327541"/>
                </a:lnTo>
                <a:lnTo>
                  <a:pt x="105291" y="351572"/>
                </a:lnTo>
                <a:cubicBezTo>
                  <a:pt x="99040" y="356920"/>
                  <a:pt x="89803" y="356920"/>
                  <a:pt x="83622" y="351572"/>
                </a:cubicBezTo>
                <a:lnTo>
                  <a:pt x="55563" y="327541"/>
                </a:lnTo>
                <a:lnTo>
                  <a:pt x="27503" y="351572"/>
                </a:lnTo>
                <a:cubicBezTo>
                  <a:pt x="22572" y="355808"/>
                  <a:pt x="15627" y="356781"/>
                  <a:pt x="9723" y="354072"/>
                </a:cubicBezTo>
                <a:cubicBezTo>
                  <a:pt x="3820" y="351363"/>
                  <a:pt x="0" y="345460"/>
                  <a:pt x="0" y="338931"/>
                </a:cubicBezTo>
                <a:lnTo>
                  <a:pt x="0" y="16669"/>
                </a:lnTo>
                <a:cubicBezTo>
                  <a:pt x="0" y="10140"/>
                  <a:pt x="3820" y="4237"/>
                  <a:pt x="9723" y="1528"/>
                </a:cubicBezTo>
                <a:close/>
                <a:moveTo>
                  <a:pt x="72231" y="94456"/>
                </a:moveTo>
                <a:cubicBezTo>
                  <a:pt x="62994" y="94456"/>
                  <a:pt x="55563" y="101888"/>
                  <a:pt x="55563" y="111125"/>
                </a:cubicBezTo>
                <a:cubicBezTo>
                  <a:pt x="55563" y="120362"/>
                  <a:pt x="62994" y="127794"/>
                  <a:pt x="72231" y="127794"/>
                </a:cubicBezTo>
                <a:lnTo>
                  <a:pt x="194469" y="127794"/>
                </a:lnTo>
                <a:cubicBezTo>
                  <a:pt x="203706" y="127794"/>
                  <a:pt x="211138" y="120362"/>
                  <a:pt x="211138" y="111125"/>
                </a:cubicBezTo>
                <a:cubicBezTo>
                  <a:pt x="211138" y="101888"/>
                  <a:pt x="203706" y="94456"/>
                  <a:pt x="194469" y="94456"/>
                </a:cubicBezTo>
                <a:lnTo>
                  <a:pt x="72231" y="94456"/>
                </a:lnTo>
                <a:close/>
                <a:moveTo>
                  <a:pt x="55563" y="244475"/>
                </a:moveTo>
                <a:cubicBezTo>
                  <a:pt x="55563" y="253712"/>
                  <a:pt x="62994" y="261144"/>
                  <a:pt x="72231" y="261144"/>
                </a:cubicBezTo>
                <a:lnTo>
                  <a:pt x="194469" y="261144"/>
                </a:lnTo>
                <a:cubicBezTo>
                  <a:pt x="203706" y="261144"/>
                  <a:pt x="211138" y="253712"/>
                  <a:pt x="211138" y="244475"/>
                </a:cubicBezTo>
                <a:cubicBezTo>
                  <a:pt x="211138" y="235238"/>
                  <a:pt x="203706" y="227806"/>
                  <a:pt x="194469" y="227806"/>
                </a:cubicBezTo>
                <a:lnTo>
                  <a:pt x="72231" y="227806"/>
                </a:lnTo>
                <a:cubicBezTo>
                  <a:pt x="62994" y="227806"/>
                  <a:pt x="55563" y="235238"/>
                  <a:pt x="55563" y="244475"/>
                </a:cubicBezTo>
                <a:close/>
                <a:moveTo>
                  <a:pt x="72231" y="161131"/>
                </a:moveTo>
                <a:cubicBezTo>
                  <a:pt x="62994" y="161131"/>
                  <a:pt x="55563" y="168563"/>
                  <a:pt x="55563" y="177800"/>
                </a:cubicBezTo>
                <a:cubicBezTo>
                  <a:pt x="55563" y="187037"/>
                  <a:pt x="62994" y="194469"/>
                  <a:pt x="72231" y="194469"/>
                </a:cubicBezTo>
                <a:lnTo>
                  <a:pt x="194469" y="194469"/>
                </a:lnTo>
                <a:cubicBezTo>
                  <a:pt x="203706" y="194469"/>
                  <a:pt x="211138" y="187037"/>
                  <a:pt x="211138" y="177800"/>
                </a:cubicBezTo>
                <a:cubicBezTo>
                  <a:pt x="211138" y="168563"/>
                  <a:pt x="203706" y="161131"/>
                  <a:pt x="194469" y="161131"/>
                </a:cubicBezTo>
                <a:lnTo>
                  <a:pt x="72231" y="161131"/>
                </a:lnTo>
                <a:close/>
              </a:path>
            </a:pathLst>
          </a:custGeom>
          <a:solidFill>
            <a:srgbClr val="D4A03A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842000" y="1333500"/>
            <a:ext cx="4572000" cy="1651000"/>
          </a:xfrm>
          <a:prstGeom prst="rect">
            <a:avLst/>
          </a:prstGeom>
          <a:solidFill>
            <a:srgbClr val="1E1E26"/>
          </a:solidFill>
          <a:ln/>
        </p:spPr>
      </p:sp>
      <p:sp>
        <p:nvSpPr>
          <p:cNvPr id="10" name="Text 8"/>
          <p:cNvSpPr/>
          <p:nvPr/>
        </p:nvSpPr>
        <p:spPr>
          <a:xfrm>
            <a:off x="6096000" y="1460500"/>
            <a:ext cx="4064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dirty="0">
                <a:solidFill>
                  <a:srgbClr val="D4A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$817.9K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6096000" y="2222500"/>
            <a:ext cx="3429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8A8A9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TOTAL REVENUE GENERATED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845675" y="2349500"/>
            <a:ext cx="222250" cy="355600"/>
          </a:xfrm>
          <a:custGeom>
            <a:avLst/>
            <a:gdLst/>
            <a:ahLst/>
            <a:cxnLst/>
            <a:rect l="l" t="t" r="r" b="b"/>
            <a:pathLst>
              <a:path w="222250" h="355600">
                <a:moveTo>
                  <a:pt x="94456" y="16669"/>
                </a:moveTo>
                <a:cubicBezTo>
                  <a:pt x="94456" y="7431"/>
                  <a:pt x="101888" y="0"/>
                  <a:pt x="111125" y="0"/>
                </a:cubicBezTo>
                <a:cubicBezTo>
                  <a:pt x="120362" y="0"/>
                  <a:pt x="127794" y="7431"/>
                  <a:pt x="127794" y="16669"/>
                </a:cubicBezTo>
                <a:lnTo>
                  <a:pt x="127794" y="44450"/>
                </a:lnTo>
                <a:lnTo>
                  <a:pt x="166688" y="44450"/>
                </a:lnTo>
                <a:cubicBezTo>
                  <a:pt x="178981" y="44450"/>
                  <a:pt x="188913" y="54382"/>
                  <a:pt x="188913" y="66675"/>
                </a:cubicBezTo>
                <a:cubicBezTo>
                  <a:pt x="188913" y="78968"/>
                  <a:pt x="178981" y="88900"/>
                  <a:pt x="166688" y="88900"/>
                </a:cubicBezTo>
                <a:lnTo>
                  <a:pt x="86886" y="88900"/>
                </a:lnTo>
                <a:cubicBezTo>
                  <a:pt x="69592" y="88900"/>
                  <a:pt x="55563" y="102930"/>
                  <a:pt x="55563" y="120223"/>
                </a:cubicBezTo>
                <a:cubicBezTo>
                  <a:pt x="55563" y="135850"/>
                  <a:pt x="67022" y="149046"/>
                  <a:pt x="82441" y="151269"/>
                </a:cubicBezTo>
                <a:lnTo>
                  <a:pt x="146060" y="160367"/>
                </a:lnTo>
                <a:cubicBezTo>
                  <a:pt x="183426" y="165715"/>
                  <a:pt x="211138" y="197664"/>
                  <a:pt x="211138" y="235377"/>
                </a:cubicBezTo>
                <a:cubicBezTo>
                  <a:pt x="211138" y="277257"/>
                  <a:pt x="177175" y="311150"/>
                  <a:pt x="135364" y="311150"/>
                </a:cubicBezTo>
                <a:lnTo>
                  <a:pt x="127794" y="311150"/>
                </a:lnTo>
                <a:lnTo>
                  <a:pt x="127794" y="338931"/>
                </a:lnTo>
                <a:cubicBezTo>
                  <a:pt x="127794" y="348169"/>
                  <a:pt x="120362" y="355600"/>
                  <a:pt x="111125" y="355600"/>
                </a:cubicBezTo>
                <a:cubicBezTo>
                  <a:pt x="101888" y="355600"/>
                  <a:pt x="94456" y="348169"/>
                  <a:pt x="94456" y="338931"/>
                </a:cubicBezTo>
                <a:lnTo>
                  <a:pt x="94456" y="311150"/>
                </a:lnTo>
                <a:lnTo>
                  <a:pt x="44450" y="311150"/>
                </a:lnTo>
                <a:cubicBezTo>
                  <a:pt x="32157" y="311150"/>
                  <a:pt x="22225" y="301218"/>
                  <a:pt x="22225" y="288925"/>
                </a:cubicBezTo>
                <a:cubicBezTo>
                  <a:pt x="22225" y="276632"/>
                  <a:pt x="32157" y="266700"/>
                  <a:pt x="44450" y="266700"/>
                </a:cubicBezTo>
                <a:lnTo>
                  <a:pt x="135364" y="266700"/>
                </a:lnTo>
                <a:cubicBezTo>
                  <a:pt x="152658" y="266700"/>
                  <a:pt x="166688" y="252670"/>
                  <a:pt x="166688" y="235377"/>
                </a:cubicBezTo>
                <a:cubicBezTo>
                  <a:pt x="166688" y="219750"/>
                  <a:pt x="155228" y="206554"/>
                  <a:pt x="139809" y="204331"/>
                </a:cubicBezTo>
                <a:lnTo>
                  <a:pt x="76190" y="195233"/>
                </a:lnTo>
                <a:cubicBezTo>
                  <a:pt x="38824" y="189954"/>
                  <a:pt x="11112" y="157936"/>
                  <a:pt x="11112" y="120223"/>
                </a:cubicBezTo>
                <a:cubicBezTo>
                  <a:pt x="11112" y="78413"/>
                  <a:pt x="45075" y="44450"/>
                  <a:pt x="86886" y="44450"/>
                </a:cubicBezTo>
                <a:lnTo>
                  <a:pt x="94456" y="44450"/>
                </a:lnTo>
                <a:lnTo>
                  <a:pt x="94456" y="16669"/>
                </a:lnTo>
                <a:close/>
              </a:path>
            </a:pathLst>
          </a:custGeom>
          <a:solidFill>
            <a:srgbClr val="D4A03A">
              <a:alpha val="3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922000" y="1333500"/>
            <a:ext cx="4572000" cy="1651000"/>
          </a:xfrm>
          <a:prstGeom prst="rect">
            <a:avLst/>
          </a:prstGeom>
          <a:solidFill>
            <a:srgbClr val="1E1E26"/>
          </a:solidFill>
          <a:ln/>
        </p:spPr>
      </p:sp>
      <p:sp>
        <p:nvSpPr>
          <p:cNvPr id="14" name="Text 12"/>
          <p:cNvSpPr/>
          <p:nvPr/>
        </p:nvSpPr>
        <p:spPr>
          <a:xfrm>
            <a:off x="11176000" y="1460500"/>
            <a:ext cx="4064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dirty="0">
                <a:solidFill>
                  <a:srgbClr val="D4A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11176000" y="2222500"/>
            <a:ext cx="3429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8A8A9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PIZZA CATEGORIES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4859000" y="234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61479" y="3612"/>
                </a:moveTo>
                <a:cubicBezTo>
                  <a:pt x="171827" y="-1181"/>
                  <a:pt x="183773" y="-1181"/>
                  <a:pt x="194121" y="3612"/>
                </a:cubicBezTo>
                <a:lnTo>
                  <a:pt x="345946" y="73759"/>
                </a:lnTo>
                <a:cubicBezTo>
                  <a:pt x="351850" y="76468"/>
                  <a:pt x="355600" y="82371"/>
                  <a:pt x="355600" y="88900"/>
                </a:cubicBezTo>
                <a:cubicBezTo>
                  <a:pt x="355600" y="95429"/>
                  <a:pt x="351850" y="101332"/>
                  <a:pt x="345946" y="104041"/>
                </a:cubicBezTo>
                <a:lnTo>
                  <a:pt x="194121" y="174188"/>
                </a:lnTo>
                <a:cubicBezTo>
                  <a:pt x="183773" y="178981"/>
                  <a:pt x="171827" y="178981"/>
                  <a:pt x="161479" y="174188"/>
                </a:cubicBezTo>
                <a:lnTo>
                  <a:pt x="9654" y="104041"/>
                </a:lnTo>
                <a:cubicBezTo>
                  <a:pt x="3750" y="101263"/>
                  <a:pt x="0" y="95359"/>
                  <a:pt x="0" y="88900"/>
                </a:cubicBezTo>
                <a:cubicBezTo>
                  <a:pt x="0" y="82441"/>
                  <a:pt x="3750" y="76468"/>
                  <a:pt x="9654" y="73759"/>
                </a:cubicBezTo>
                <a:lnTo>
                  <a:pt x="161479" y="3612"/>
                </a:lnTo>
                <a:close/>
                <a:moveTo>
                  <a:pt x="33407" y="151686"/>
                </a:moveTo>
                <a:lnTo>
                  <a:pt x="147518" y="204401"/>
                </a:lnTo>
                <a:cubicBezTo>
                  <a:pt x="166757" y="213291"/>
                  <a:pt x="188913" y="213291"/>
                  <a:pt x="208151" y="204401"/>
                </a:cubicBezTo>
                <a:lnTo>
                  <a:pt x="322263" y="151686"/>
                </a:lnTo>
                <a:lnTo>
                  <a:pt x="345946" y="162659"/>
                </a:lnTo>
                <a:cubicBezTo>
                  <a:pt x="351850" y="165368"/>
                  <a:pt x="355600" y="171271"/>
                  <a:pt x="355600" y="177800"/>
                </a:cubicBezTo>
                <a:cubicBezTo>
                  <a:pt x="355600" y="184329"/>
                  <a:pt x="351850" y="190232"/>
                  <a:pt x="345946" y="192941"/>
                </a:cubicBezTo>
                <a:lnTo>
                  <a:pt x="194121" y="263088"/>
                </a:lnTo>
                <a:cubicBezTo>
                  <a:pt x="183773" y="267881"/>
                  <a:pt x="171827" y="267881"/>
                  <a:pt x="161479" y="263088"/>
                </a:cubicBezTo>
                <a:lnTo>
                  <a:pt x="9654" y="192941"/>
                </a:lnTo>
                <a:cubicBezTo>
                  <a:pt x="3750" y="190163"/>
                  <a:pt x="0" y="184259"/>
                  <a:pt x="0" y="177800"/>
                </a:cubicBezTo>
                <a:cubicBezTo>
                  <a:pt x="0" y="171341"/>
                  <a:pt x="3750" y="165368"/>
                  <a:pt x="9654" y="162659"/>
                </a:cubicBezTo>
                <a:lnTo>
                  <a:pt x="33337" y="151686"/>
                </a:lnTo>
                <a:close/>
                <a:moveTo>
                  <a:pt x="9654" y="251559"/>
                </a:moveTo>
                <a:lnTo>
                  <a:pt x="33337" y="240586"/>
                </a:lnTo>
                <a:lnTo>
                  <a:pt x="147449" y="293301"/>
                </a:lnTo>
                <a:cubicBezTo>
                  <a:pt x="166688" y="302191"/>
                  <a:pt x="188843" y="302191"/>
                  <a:pt x="208082" y="293301"/>
                </a:cubicBezTo>
                <a:lnTo>
                  <a:pt x="322193" y="240586"/>
                </a:lnTo>
                <a:lnTo>
                  <a:pt x="345877" y="251559"/>
                </a:lnTo>
                <a:cubicBezTo>
                  <a:pt x="351780" y="254268"/>
                  <a:pt x="355531" y="260171"/>
                  <a:pt x="355531" y="266700"/>
                </a:cubicBezTo>
                <a:cubicBezTo>
                  <a:pt x="355531" y="273229"/>
                  <a:pt x="351780" y="279132"/>
                  <a:pt x="345877" y="281841"/>
                </a:cubicBezTo>
                <a:lnTo>
                  <a:pt x="194052" y="351988"/>
                </a:lnTo>
                <a:cubicBezTo>
                  <a:pt x="183704" y="356781"/>
                  <a:pt x="171758" y="356781"/>
                  <a:pt x="161409" y="351988"/>
                </a:cubicBezTo>
                <a:lnTo>
                  <a:pt x="9654" y="281841"/>
                </a:lnTo>
                <a:cubicBezTo>
                  <a:pt x="3750" y="279063"/>
                  <a:pt x="0" y="273159"/>
                  <a:pt x="0" y="266700"/>
                </a:cubicBezTo>
                <a:cubicBezTo>
                  <a:pt x="0" y="260241"/>
                  <a:pt x="3750" y="254268"/>
                  <a:pt x="9654" y="251559"/>
                </a:cubicBezTo>
                <a:close/>
              </a:path>
            </a:pathLst>
          </a:custGeom>
          <a:solidFill>
            <a:srgbClr val="D4A03A">
              <a:alpha val="3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62000" y="33655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D4A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OBJECTIVES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62000" y="3937000"/>
            <a:ext cx="1473200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D4A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F0EDE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Analyzed </a:t>
            </a:r>
            <a:pPr>
              <a:lnSpc>
                <a:spcPct val="180000"/>
              </a:lnSpc>
            </a:pPr>
            <a:r>
              <a:rPr lang="en-US" sz="1800" b="1" dirty="0">
                <a:solidFill>
                  <a:srgbClr val="F0EDE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48,000+ pizza sales records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F0EDE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using complex SQL queries across multiple related tables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D4A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F0EDE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Performed comprehensive </a:t>
            </a:r>
            <a:pPr>
              <a:lnSpc>
                <a:spcPct val="180000"/>
              </a:lnSpc>
            </a:pPr>
            <a:r>
              <a:rPr lang="en-US" sz="1800" b="1" dirty="0">
                <a:solidFill>
                  <a:srgbClr val="F0EDE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 cleaning and transformation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F0EDE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on raw order data to ensure data quality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D4A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F0EDE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Identified </a:t>
            </a:r>
            <a:pPr>
              <a:lnSpc>
                <a:spcPct val="180000"/>
              </a:lnSpc>
            </a:pPr>
            <a:r>
              <a:rPr lang="en-US" sz="1800" b="1" dirty="0">
                <a:solidFill>
                  <a:srgbClr val="F0EDE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revenue patterns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F0EDE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across pizza categories, types, sizes, and time periods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D4A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F0EDE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Generated </a:t>
            </a:r>
            <a:pPr>
              <a:lnSpc>
                <a:spcPct val="180000"/>
              </a:lnSpc>
            </a:pPr>
            <a:r>
              <a:rPr lang="en-US" sz="1800" b="1" dirty="0">
                <a:solidFill>
                  <a:srgbClr val="F0EDE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actionable business insights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F0EDE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support menu optimization and inventory decisions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D4A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F0EDE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Built a reusable SQL analytics framework applicable to future sales analysis projects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986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8A8A9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D4A03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D4A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Tools &amp; Technologies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41400"/>
            <a:ext cx="14732000" cy="12700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97000"/>
            <a:ext cx="7048500" cy="1524000"/>
          </a:xfrm>
          <a:prstGeom prst="rect">
            <a:avLst/>
          </a:prstGeom>
          <a:solidFill>
            <a:srgbClr val="1E1E26"/>
          </a:solidFill>
          <a:ln/>
        </p:spPr>
      </p:sp>
      <p:sp>
        <p:nvSpPr>
          <p:cNvPr id="6" name="Shape 4"/>
          <p:cNvSpPr/>
          <p:nvPr/>
        </p:nvSpPr>
        <p:spPr>
          <a:xfrm>
            <a:off x="1111250" y="17780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444500" y="204192"/>
                </a:moveTo>
                <a:cubicBezTo>
                  <a:pt x="429816" y="213916"/>
                  <a:pt x="412948" y="221754"/>
                  <a:pt x="395387" y="228005"/>
                </a:cubicBezTo>
                <a:cubicBezTo>
                  <a:pt x="348754" y="244673"/>
                  <a:pt x="287536" y="254000"/>
                  <a:pt x="222250" y="254000"/>
                </a:cubicBezTo>
                <a:cubicBezTo>
                  <a:pt x="156964" y="254000"/>
                  <a:pt x="95647" y="244574"/>
                  <a:pt x="49113" y="228005"/>
                </a:cubicBezTo>
                <a:cubicBezTo>
                  <a:pt x="31651" y="221754"/>
                  <a:pt x="14684" y="213916"/>
                  <a:pt x="0" y="204192"/>
                </a:cubicBezTo>
                <a:lnTo>
                  <a:pt x="0" y="285750"/>
                </a:lnTo>
                <a:cubicBezTo>
                  <a:pt x="0" y="329605"/>
                  <a:pt x="99516" y="365125"/>
                  <a:pt x="222250" y="365125"/>
                </a:cubicBezTo>
                <a:cubicBezTo>
                  <a:pt x="344984" y="365125"/>
                  <a:pt x="444500" y="329605"/>
                  <a:pt x="444500" y="285750"/>
                </a:cubicBezTo>
                <a:lnTo>
                  <a:pt x="444500" y="204192"/>
                </a:lnTo>
                <a:close/>
                <a:moveTo>
                  <a:pt x="444500" y="127000"/>
                </a:moveTo>
                <a:lnTo>
                  <a:pt x="444500" y="79375"/>
                </a:lnTo>
                <a:cubicBezTo>
                  <a:pt x="444500" y="35520"/>
                  <a:pt x="344984" y="0"/>
                  <a:pt x="222250" y="0"/>
                </a:cubicBezTo>
                <a:cubicBezTo>
                  <a:pt x="99516" y="0"/>
                  <a:pt x="0" y="35520"/>
                  <a:pt x="0" y="79375"/>
                </a:cubicBezTo>
                <a:lnTo>
                  <a:pt x="0" y="127000"/>
                </a:lnTo>
                <a:cubicBezTo>
                  <a:pt x="0" y="170855"/>
                  <a:pt x="99516" y="206375"/>
                  <a:pt x="222250" y="206375"/>
                </a:cubicBezTo>
                <a:cubicBezTo>
                  <a:pt x="344984" y="206375"/>
                  <a:pt x="444500" y="170855"/>
                  <a:pt x="444500" y="127000"/>
                </a:cubicBezTo>
                <a:close/>
                <a:moveTo>
                  <a:pt x="395387" y="386755"/>
                </a:moveTo>
                <a:cubicBezTo>
                  <a:pt x="348853" y="403324"/>
                  <a:pt x="287635" y="412750"/>
                  <a:pt x="222250" y="412750"/>
                </a:cubicBezTo>
                <a:cubicBezTo>
                  <a:pt x="156865" y="412750"/>
                  <a:pt x="95647" y="403324"/>
                  <a:pt x="49113" y="386755"/>
                </a:cubicBezTo>
                <a:cubicBezTo>
                  <a:pt x="31651" y="380504"/>
                  <a:pt x="14684" y="372666"/>
                  <a:pt x="0" y="362942"/>
                </a:cubicBezTo>
                <a:lnTo>
                  <a:pt x="0" y="428625"/>
                </a:lnTo>
                <a:cubicBezTo>
                  <a:pt x="0" y="472480"/>
                  <a:pt x="99516" y="508000"/>
                  <a:pt x="222250" y="508000"/>
                </a:cubicBezTo>
                <a:cubicBezTo>
                  <a:pt x="344984" y="508000"/>
                  <a:pt x="444500" y="472480"/>
                  <a:pt x="444500" y="428625"/>
                </a:cubicBezTo>
                <a:lnTo>
                  <a:pt x="444500" y="362942"/>
                </a:lnTo>
                <a:cubicBezTo>
                  <a:pt x="429816" y="372666"/>
                  <a:pt x="412948" y="380504"/>
                  <a:pt x="395387" y="386755"/>
                </a:cubicBezTo>
                <a:close/>
              </a:path>
            </a:pathLst>
          </a:custGeom>
          <a:solidFill>
            <a:srgbClr val="D4A03A"/>
          </a:solidFill>
          <a:ln/>
        </p:spPr>
      </p:sp>
      <p:sp>
        <p:nvSpPr>
          <p:cNvPr id="7" name="Text 5"/>
          <p:cNvSpPr/>
          <p:nvPr/>
        </p:nvSpPr>
        <p:spPr>
          <a:xfrm>
            <a:off x="1841500" y="1587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0ED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 (PostgreSQL)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41500" y="2032000"/>
            <a:ext cx="571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8A8A9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Complex queries, joins, aggregations, window functions, and CTEs for data extraction and analysis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445500" y="1397000"/>
            <a:ext cx="7048500" cy="1524000"/>
          </a:xfrm>
          <a:prstGeom prst="rect">
            <a:avLst/>
          </a:prstGeom>
          <a:solidFill>
            <a:srgbClr val="1E1E26"/>
          </a:solidFill>
          <a:ln/>
        </p:spPr>
      </p:sp>
      <p:sp>
        <p:nvSpPr>
          <p:cNvPr id="10" name="Shape 8"/>
          <p:cNvSpPr/>
          <p:nvPr/>
        </p:nvSpPr>
        <p:spPr>
          <a:xfrm>
            <a:off x="8794750" y="17780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63500" y="31750"/>
                </a:moveTo>
                <a:cubicBezTo>
                  <a:pt x="28476" y="31750"/>
                  <a:pt x="0" y="60226"/>
                  <a:pt x="0" y="95250"/>
                </a:cubicBezTo>
                <a:lnTo>
                  <a:pt x="0" y="158750"/>
                </a:lnTo>
                <a:cubicBezTo>
                  <a:pt x="0" y="193774"/>
                  <a:pt x="28476" y="222250"/>
                  <a:pt x="63500" y="222250"/>
                </a:cubicBezTo>
                <a:lnTo>
                  <a:pt x="381000" y="222250"/>
                </a:lnTo>
                <a:cubicBezTo>
                  <a:pt x="416024" y="222250"/>
                  <a:pt x="444500" y="193774"/>
                  <a:pt x="444500" y="158750"/>
                </a:cubicBezTo>
                <a:lnTo>
                  <a:pt x="444500" y="95250"/>
                </a:lnTo>
                <a:cubicBezTo>
                  <a:pt x="444500" y="60226"/>
                  <a:pt x="416024" y="31750"/>
                  <a:pt x="381000" y="31750"/>
                </a:cubicBezTo>
                <a:lnTo>
                  <a:pt x="63500" y="31750"/>
                </a:lnTo>
                <a:close/>
                <a:moveTo>
                  <a:pt x="277813" y="103188"/>
                </a:moveTo>
                <a:cubicBezTo>
                  <a:pt x="290955" y="103188"/>
                  <a:pt x="301625" y="113858"/>
                  <a:pt x="301625" y="127000"/>
                </a:cubicBezTo>
                <a:cubicBezTo>
                  <a:pt x="301625" y="140142"/>
                  <a:pt x="290955" y="150813"/>
                  <a:pt x="277813" y="150813"/>
                </a:cubicBezTo>
                <a:cubicBezTo>
                  <a:pt x="264670" y="150813"/>
                  <a:pt x="254000" y="140142"/>
                  <a:pt x="254000" y="127000"/>
                </a:cubicBezTo>
                <a:cubicBezTo>
                  <a:pt x="254000" y="113858"/>
                  <a:pt x="264670" y="103188"/>
                  <a:pt x="277813" y="103188"/>
                </a:cubicBezTo>
                <a:close/>
                <a:moveTo>
                  <a:pt x="333375" y="127000"/>
                </a:moveTo>
                <a:cubicBezTo>
                  <a:pt x="333375" y="113858"/>
                  <a:pt x="344045" y="103188"/>
                  <a:pt x="357188" y="103188"/>
                </a:cubicBezTo>
                <a:cubicBezTo>
                  <a:pt x="370330" y="103188"/>
                  <a:pt x="381000" y="113858"/>
                  <a:pt x="381000" y="127000"/>
                </a:cubicBezTo>
                <a:cubicBezTo>
                  <a:pt x="381000" y="140142"/>
                  <a:pt x="370330" y="150813"/>
                  <a:pt x="357188" y="150813"/>
                </a:cubicBezTo>
                <a:cubicBezTo>
                  <a:pt x="344045" y="150813"/>
                  <a:pt x="333375" y="140142"/>
                  <a:pt x="333375" y="127000"/>
                </a:cubicBezTo>
                <a:close/>
                <a:moveTo>
                  <a:pt x="63500" y="285750"/>
                </a:moveTo>
                <a:cubicBezTo>
                  <a:pt x="28476" y="285750"/>
                  <a:pt x="0" y="314226"/>
                  <a:pt x="0" y="349250"/>
                </a:cubicBezTo>
                <a:lnTo>
                  <a:pt x="0" y="412750"/>
                </a:lnTo>
                <a:cubicBezTo>
                  <a:pt x="0" y="447774"/>
                  <a:pt x="28476" y="476250"/>
                  <a:pt x="63500" y="476250"/>
                </a:cubicBezTo>
                <a:lnTo>
                  <a:pt x="381000" y="476250"/>
                </a:lnTo>
                <a:cubicBezTo>
                  <a:pt x="416024" y="476250"/>
                  <a:pt x="444500" y="447774"/>
                  <a:pt x="444500" y="412750"/>
                </a:cubicBezTo>
                <a:lnTo>
                  <a:pt x="444500" y="349250"/>
                </a:lnTo>
                <a:cubicBezTo>
                  <a:pt x="444500" y="314226"/>
                  <a:pt x="416024" y="285750"/>
                  <a:pt x="381000" y="285750"/>
                </a:cubicBezTo>
                <a:lnTo>
                  <a:pt x="63500" y="285750"/>
                </a:lnTo>
                <a:close/>
                <a:moveTo>
                  <a:pt x="277813" y="357188"/>
                </a:moveTo>
                <a:cubicBezTo>
                  <a:pt x="290955" y="357188"/>
                  <a:pt x="301625" y="367858"/>
                  <a:pt x="301625" y="381000"/>
                </a:cubicBezTo>
                <a:cubicBezTo>
                  <a:pt x="301625" y="394142"/>
                  <a:pt x="290955" y="404813"/>
                  <a:pt x="277813" y="404813"/>
                </a:cubicBezTo>
                <a:cubicBezTo>
                  <a:pt x="264670" y="404813"/>
                  <a:pt x="254000" y="394142"/>
                  <a:pt x="254000" y="381000"/>
                </a:cubicBezTo>
                <a:cubicBezTo>
                  <a:pt x="254000" y="367858"/>
                  <a:pt x="264670" y="357188"/>
                  <a:pt x="277813" y="357188"/>
                </a:cubicBezTo>
                <a:close/>
                <a:moveTo>
                  <a:pt x="333375" y="381000"/>
                </a:moveTo>
                <a:cubicBezTo>
                  <a:pt x="333375" y="367858"/>
                  <a:pt x="344045" y="357188"/>
                  <a:pt x="357188" y="357188"/>
                </a:cubicBezTo>
                <a:cubicBezTo>
                  <a:pt x="370330" y="357188"/>
                  <a:pt x="381000" y="367858"/>
                  <a:pt x="381000" y="381000"/>
                </a:cubicBezTo>
                <a:cubicBezTo>
                  <a:pt x="381000" y="394142"/>
                  <a:pt x="370330" y="404813"/>
                  <a:pt x="357188" y="404813"/>
                </a:cubicBezTo>
                <a:cubicBezTo>
                  <a:pt x="344045" y="404813"/>
                  <a:pt x="333375" y="394142"/>
                  <a:pt x="333375" y="381000"/>
                </a:cubicBezTo>
                <a:close/>
              </a:path>
            </a:pathLst>
          </a:custGeom>
          <a:solidFill>
            <a:srgbClr val="D4A03A"/>
          </a:solidFill>
          <a:ln/>
        </p:spPr>
      </p:sp>
      <p:sp>
        <p:nvSpPr>
          <p:cNvPr id="11" name="Text 9"/>
          <p:cNvSpPr/>
          <p:nvPr/>
        </p:nvSpPr>
        <p:spPr>
          <a:xfrm>
            <a:off x="9525000" y="1587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0ED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Relational Database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525000" y="2032000"/>
            <a:ext cx="571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8A8A9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Structured data storage with normalized tables: orders, pizzas, order_details, and pizza_types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62000" y="3302000"/>
            <a:ext cx="7048500" cy="1524000"/>
          </a:xfrm>
          <a:prstGeom prst="rect">
            <a:avLst/>
          </a:prstGeom>
          <a:solidFill>
            <a:srgbClr val="1E1E26"/>
          </a:solidFill>
          <a:ln/>
        </p:spPr>
      </p:sp>
      <p:sp>
        <p:nvSpPr>
          <p:cNvPr id="14" name="Shape 12"/>
          <p:cNvSpPr/>
          <p:nvPr/>
        </p:nvSpPr>
        <p:spPr>
          <a:xfrm>
            <a:off x="1079500" y="3683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72541" y="394295"/>
                </a:moveTo>
                <a:cubicBezTo>
                  <a:pt x="172541" y="396280"/>
                  <a:pt x="170259" y="397867"/>
                  <a:pt x="167382" y="397867"/>
                </a:cubicBezTo>
                <a:cubicBezTo>
                  <a:pt x="164108" y="398165"/>
                  <a:pt x="161826" y="396577"/>
                  <a:pt x="161826" y="394295"/>
                </a:cubicBezTo>
                <a:cubicBezTo>
                  <a:pt x="161826" y="392311"/>
                  <a:pt x="164108" y="390723"/>
                  <a:pt x="166985" y="390723"/>
                </a:cubicBezTo>
                <a:cubicBezTo>
                  <a:pt x="169962" y="390426"/>
                  <a:pt x="172541" y="392013"/>
                  <a:pt x="172541" y="394295"/>
                </a:cubicBezTo>
                <a:close/>
                <a:moveTo>
                  <a:pt x="141684" y="389830"/>
                </a:moveTo>
                <a:cubicBezTo>
                  <a:pt x="140990" y="391815"/>
                  <a:pt x="142974" y="394097"/>
                  <a:pt x="145951" y="394692"/>
                </a:cubicBezTo>
                <a:cubicBezTo>
                  <a:pt x="148530" y="395684"/>
                  <a:pt x="151507" y="394692"/>
                  <a:pt x="152102" y="392708"/>
                </a:cubicBezTo>
                <a:cubicBezTo>
                  <a:pt x="152698" y="390723"/>
                  <a:pt x="150813" y="388441"/>
                  <a:pt x="147836" y="387548"/>
                </a:cubicBezTo>
                <a:cubicBezTo>
                  <a:pt x="145256" y="386854"/>
                  <a:pt x="142379" y="387846"/>
                  <a:pt x="141684" y="389830"/>
                </a:cubicBezTo>
                <a:close/>
                <a:moveTo>
                  <a:pt x="185539" y="388144"/>
                </a:moveTo>
                <a:cubicBezTo>
                  <a:pt x="182662" y="388838"/>
                  <a:pt x="180677" y="390723"/>
                  <a:pt x="180975" y="393005"/>
                </a:cubicBezTo>
                <a:cubicBezTo>
                  <a:pt x="181273" y="394990"/>
                  <a:pt x="183852" y="396280"/>
                  <a:pt x="186829" y="395585"/>
                </a:cubicBezTo>
                <a:cubicBezTo>
                  <a:pt x="189706" y="394891"/>
                  <a:pt x="191691" y="393005"/>
                  <a:pt x="191393" y="391021"/>
                </a:cubicBezTo>
                <a:cubicBezTo>
                  <a:pt x="191095" y="389136"/>
                  <a:pt x="188416" y="387846"/>
                  <a:pt x="185539" y="388144"/>
                </a:cubicBezTo>
                <a:close/>
                <a:moveTo>
                  <a:pt x="250825" y="7938"/>
                </a:moveTo>
                <a:cubicBezTo>
                  <a:pt x="113209" y="7938"/>
                  <a:pt x="7938" y="112415"/>
                  <a:pt x="7938" y="250031"/>
                </a:cubicBezTo>
                <a:cubicBezTo>
                  <a:pt x="7938" y="360065"/>
                  <a:pt x="77192" y="454223"/>
                  <a:pt x="176113" y="487362"/>
                </a:cubicBezTo>
                <a:cubicBezTo>
                  <a:pt x="188813" y="489645"/>
                  <a:pt x="193278" y="481806"/>
                  <a:pt x="193278" y="475357"/>
                </a:cubicBezTo>
                <a:cubicBezTo>
                  <a:pt x="193278" y="469205"/>
                  <a:pt x="192980" y="435273"/>
                  <a:pt x="192980" y="414437"/>
                </a:cubicBezTo>
                <a:cubicBezTo>
                  <a:pt x="192980" y="414437"/>
                  <a:pt x="123527" y="429320"/>
                  <a:pt x="108942" y="384870"/>
                </a:cubicBezTo>
                <a:cubicBezTo>
                  <a:pt x="108942" y="384870"/>
                  <a:pt x="97631" y="355997"/>
                  <a:pt x="81359" y="348555"/>
                </a:cubicBezTo>
                <a:cubicBezTo>
                  <a:pt x="81359" y="348555"/>
                  <a:pt x="58638" y="332978"/>
                  <a:pt x="82947" y="333276"/>
                </a:cubicBezTo>
                <a:cubicBezTo>
                  <a:pt x="82947" y="333276"/>
                  <a:pt x="107652" y="335260"/>
                  <a:pt x="121245" y="358874"/>
                </a:cubicBezTo>
                <a:cubicBezTo>
                  <a:pt x="142974" y="397173"/>
                  <a:pt x="179388" y="386159"/>
                  <a:pt x="193576" y="379611"/>
                </a:cubicBezTo>
                <a:cubicBezTo>
                  <a:pt x="195858" y="363736"/>
                  <a:pt x="202307" y="352723"/>
                  <a:pt x="209451" y="346174"/>
                </a:cubicBezTo>
                <a:cubicBezTo>
                  <a:pt x="153988" y="340023"/>
                  <a:pt x="98028" y="331986"/>
                  <a:pt x="98028" y="236537"/>
                </a:cubicBezTo>
                <a:cubicBezTo>
                  <a:pt x="98028" y="209252"/>
                  <a:pt x="105569" y="195560"/>
                  <a:pt x="121444" y="178098"/>
                </a:cubicBezTo>
                <a:cubicBezTo>
                  <a:pt x="118864" y="171648"/>
                  <a:pt x="110430" y="145058"/>
                  <a:pt x="124023" y="110728"/>
                </a:cubicBezTo>
                <a:cubicBezTo>
                  <a:pt x="144760" y="104279"/>
                  <a:pt x="192484" y="137517"/>
                  <a:pt x="192484" y="137517"/>
                </a:cubicBezTo>
                <a:cubicBezTo>
                  <a:pt x="212328" y="131961"/>
                  <a:pt x="233660" y="129084"/>
                  <a:pt x="254794" y="129084"/>
                </a:cubicBezTo>
                <a:cubicBezTo>
                  <a:pt x="275927" y="129084"/>
                  <a:pt x="297259" y="131961"/>
                  <a:pt x="317103" y="137517"/>
                </a:cubicBezTo>
                <a:cubicBezTo>
                  <a:pt x="317103" y="137517"/>
                  <a:pt x="364827" y="104180"/>
                  <a:pt x="385564" y="110728"/>
                </a:cubicBezTo>
                <a:cubicBezTo>
                  <a:pt x="399157" y="145157"/>
                  <a:pt x="390723" y="171648"/>
                  <a:pt x="388144" y="178098"/>
                </a:cubicBezTo>
                <a:cubicBezTo>
                  <a:pt x="404019" y="195659"/>
                  <a:pt x="413742" y="209352"/>
                  <a:pt x="413742" y="236537"/>
                </a:cubicBezTo>
                <a:cubicBezTo>
                  <a:pt x="413742" y="332284"/>
                  <a:pt x="355302" y="339923"/>
                  <a:pt x="299839" y="346174"/>
                </a:cubicBezTo>
                <a:cubicBezTo>
                  <a:pt x="308967" y="354012"/>
                  <a:pt x="316706" y="368895"/>
                  <a:pt x="316706" y="392212"/>
                </a:cubicBezTo>
                <a:cubicBezTo>
                  <a:pt x="316706" y="425648"/>
                  <a:pt x="316409" y="467023"/>
                  <a:pt x="316409" y="475159"/>
                </a:cubicBezTo>
                <a:cubicBezTo>
                  <a:pt x="316409" y="481608"/>
                  <a:pt x="320973" y="489446"/>
                  <a:pt x="333573" y="487164"/>
                </a:cubicBezTo>
                <a:cubicBezTo>
                  <a:pt x="432792" y="454223"/>
                  <a:pt x="500063" y="360065"/>
                  <a:pt x="500063" y="250031"/>
                </a:cubicBezTo>
                <a:cubicBezTo>
                  <a:pt x="500063" y="112415"/>
                  <a:pt x="388441" y="7938"/>
                  <a:pt x="250825" y="7938"/>
                </a:cubicBezTo>
                <a:close/>
                <a:moveTo>
                  <a:pt x="104378" y="350143"/>
                </a:moveTo>
                <a:cubicBezTo>
                  <a:pt x="103088" y="351135"/>
                  <a:pt x="103386" y="353417"/>
                  <a:pt x="105073" y="355302"/>
                </a:cubicBezTo>
                <a:cubicBezTo>
                  <a:pt x="106660" y="356890"/>
                  <a:pt x="108942" y="357584"/>
                  <a:pt x="110232" y="356295"/>
                </a:cubicBezTo>
                <a:cubicBezTo>
                  <a:pt x="111522" y="355302"/>
                  <a:pt x="111224" y="353020"/>
                  <a:pt x="109538" y="351135"/>
                </a:cubicBezTo>
                <a:cubicBezTo>
                  <a:pt x="107950" y="349548"/>
                  <a:pt x="105668" y="348853"/>
                  <a:pt x="104378" y="350143"/>
                </a:cubicBezTo>
                <a:close/>
                <a:moveTo>
                  <a:pt x="93663" y="342106"/>
                </a:moveTo>
                <a:cubicBezTo>
                  <a:pt x="92968" y="343396"/>
                  <a:pt x="93960" y="344984"/>
                  <a:pt x="95945" y="345976"/>
                </a:cubicBezTo>
                <a:cubicBezTo>
                  <a:pt x="97532" y="346968"/>
                  <a:pt x="99516" y="346670"/>
                  <a:pt x="100211" y="345281"/>
                </a:cubicBezTo>
                <a:cubicBezTo>
                  <a:pt x="100905" y="343991"/>
                  <a:pt x="99913" y="342404"/>
                  <a:pt x="97929" y="341412"/>
                </a:cubicBezTo>
                <a:cubicBezTo>
                  <a:pt x="95945" y="340816"/>
                  <a:pt x="94357" y="341114"/>
                  <a:pt x="93663" y="342106"/>
                </a:cubicBezTo>
                <a:close/>
                <a:moveTo>
                  <a:pt x="125809" y="377428"/>
                </a:moveTo>
                <a:cubicBezTo>
                  <a:pt x="124222" y="378718"/>
                  <a:pt x="124817" y="381695"/>
                  <a:pt x="127099" y="383580"/>
                </a:cubicBezTo>
                <a:cubicBezTo>
                  <a:pt x="129381" y="385862"/>
                  <a:pt x="132259" y="386159"/>
                  <a:pt x="133548" y="384572"/>
                </a:cubicBezTo>
                <a:cubicBezTo>
                  <a:pt x="134838" y="383282"/>
                  <a:pt x="134243" y="380305"/>
                  <a:pt x="132259" y="378420"/>
                </a:cubicBezTo>
                <a:cubicBezTo>
                  <a:pt x="130076" y="376138"/>
                  <a:pt x="127099" y="375841"/>
                  <a:pt x="125809" y="377428"/>
                </a:cubicBezTo>
                <a:close/>
                <a:moveTo>
                  <a:pt x="114498" y="362843"/>
                </a:moveTo>
                <a:cubicBezTo>
                  <a:pt x="112911" y="363835"/>
                  <a:pt x="112911" y="366415"/>
                  <a:pt x="114498" y="368697"/>
                </a:cubicBezTo>
                <a:cubicBezTo>
                  <a:pt x="116086" y="370979"/>
                  <a:pt x="118765" y="371971"/>
                  <a:pt x="120055" y="370979"/>
                </a:cubicBezTo>
                <a:cubicBezTo>
                  <a:pt x="121642" y="369689"/>
                  <a:pt x="121642" y="367109"/>
                  <a:pt x="120055" y="364827"/>
                </a:cubicBezTo>
                <a:cubicBezTo>
                  <a:pt x="118666" y="362545"/>
                  <a:pt x="116086" y="361553"/>
                  <a:pt x="114498" y="362843"/>
                </a:cubicBezTo>
                <a:close/>
              </a:path>
            </a:pathLst>
          </a:custGeom>
          <a:solidFill>
            <a:srgbClr val="D4A03A"/>
          </a:solidFill>
          <a:ln/>
        </p:spPr>
      </p:sp>
      <p:sp>
        <p:nvSpPr>
          <p:cNvPr id="15" name="Text 13"/>
          <p:cNvSpPr/>
          <p:nvPr/>
        </p:nvSpPr>
        <p:spPr>
          <a:xfrm>
            <a:off x="1841500" y="3492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0ED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GitHub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841500" y="3937000"/>
            <a:ext cx="571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8A8A9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Version control, project documentation, and collaborative code management for the analysis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445500" y="3302000"/>
            <a:ext cx="7048500" cy="1524000"/>
          </a:xfrm>
          <a:prstGeom prst="rect">
            <a:avLst/>
          </a:prstGeom>
          <a:solidFill>
            <a:srgbClr val="1E1E26"/>
          </a:solidFill>
          <a:ln/>
        </p:spPr>
      </p:sp>
      <p:sp>
        <p:nvSpPr>
          <p:cNvPr id="18" name="Shape 16"/>
          <p:cNvSpPr/>
          <p:nvPr/>
        </p:nvSpPr>
        <p:spPr>
          <a:xfrm>
            <a:off x="8731250" y="3683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508397" y="238125"/>
                </a:moveTo>
                <a:lnTo>
                  <a:pt x="333772" y="238125"/>
                </a:lnTo>
                <a:cubicBezTo>
                  <a:pt x="316210" y="238125"/>
                  <a:pt x="302022" y="223937"/>
                  <a:pt x="302022" y="206375"/>
                </a:cubicBezTo>
                <a:lnTo>
                  <a:pt x="302022" y="31750"/>
                </a:lnTo>
                <a:cubicBezTo>
                  <a:pt x="302022" y="14188"/>
                  <a:pt x="316309" y="-198"/>
                  <a:pt x="333673" y="2084"/>
                </a:cubicBezTo>
                <a:cubicBezTo>
                  <a:pt x="439837" y="16173"/>
                  <a:pt x="523974" y="100310"/>
                  <a:pt x="538063" y="206474"/>
                </a:cubicBezTo>
                <a:cubicBezTo>
                  <a:pt x="540345" y="223838"/>
                  <a:pt x="525959" y="238125"/>
                  <a:pt x="508397" y="238125"/>
                </a:cubicBezTo>
                <a:close/>
                <a:moveTo>
                  <a:pt x="220861" y="36909"/>
                </a:moveTo>
                <a:cubicBezTo>
                  <a:pt x="238820" y="33139"/>
                  <a:pt x="254397" y="47823"/>
                  <a:pt x="254397" y="66179"/>
                </a:cubicBezTo>
                <a:lnTo>
                  <a:pt x="254397" y="261937"/>
                </a:lnTo>
                <a:cubicBezTo>
                  <a:pt x="254397" y="267494"/>
                  <a:pt x="256381" y="272852"/>
                  <a:pt x="259854" y="277118"/>
                </a:cubicBezTo>
                <a:lnTo>
                  <a:pt x="390922" y="435273"/>
                </a:lnTo>
                <a:cubicBezTo>
                  <a:pt x="402530" y="449263"/>
                  <a:pt x="400050" y="470396"/>
                  <a:pt x="384076" y="479028"/>
                </a:cubicBezTo>
                <a:cubicBezTo>
                  <a:pt x="350242" y="497483"/>
                  <a:pt x="311448" y="508000"/>
                  <a:pt x="270272" y="508000"/>
                </a:cubicBezTo>
                <a:cubicBezTo>
                  <a:pt x="138807" y="508000"/>
                  <a:pt x="32147" y="401340"/>
                  <a:pt x="32147" y="269875"/>
                </a:cubicBezTo>
                <a:cubicBezTo>
                  <a:pt x="32147" y="155277"/>
                  <a:pt x="113010" y="59630"/>
                  <a:pt x="220861" y="36909"/>
                </a:cubicBezTo>
                <a:close/>
                <a:moveTo>
                  <a:pt x="474067" y="285750"/>
                </a:moveTo>
                <a:lnTo>
                  <a:pt x="537567" y="285750"/>
                </a:lnTo>
                <a:cubicBezTo>
                  <a:pt x="555923" y="285750"/>
                  <a:pt x="570607" y="301327"/>
                  <a:pt x="566837" y="319286"/>
                </a:cubicBezTo>
                <a:cubicBezTo>
                  <a:pt x="556716" y="367308"/>
                  <a:pt x="532110" y="409972"/>
                  <a:pt x="497780" y="442516"/>
                </a:cubicBezTo>
                <a:cubicBezTo>
                  <a:pt x="485577" y="454124"/>
                  <a:pt x="466427" y="451644"/>
                  <a:pt x="455712" y="438646"/>
                </a:cubicBezTo>
                <a:lnTo>
                  <a:pt x="371971" y="337741"/>
                </a:lnTo>
                <a:cubicBezTo>
                  <a:pt x="354806" y="317004"/>
                  <a:pt x="369590" y="285750"/>
                  <a:pt x="396379" y="285750"/>
                </a:cubicBezTo>
                <a:lnTo>
                  <a:pt x="473968" y="285750"/>
                </a:lnTo>
                <a:close/>
              </a:path>
            </a:pathLst>
          </a:custGeom>
          <a:solidFill>
            <a:srgbClr val="D4A03A"/>
          </a:solidFill>
          <a:ln/>
        </p:spPr>
      </p:sp>
      <p:sp>
        <p:nvSpPr>
          <p:cNvPr id="19" name="Text 17"/>
          <p:cNvSpPr/>
          <p:nvPr/>
        </p:nvSpPr>
        <p:spPr>
          <a:xfrm>
            <a:off x="9525000" y="3492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0ED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Visualization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525000" y="3937000"/>
            <a:ext cx="571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8A8A9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Bar charts, line charts, and pie charts to communicate findings clearly and effectively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62000" y="5334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D4A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TECH STACK OVERVIEW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62000" y="5905500"/>
            <a:ext cx="1473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F0EDE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project utilized a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F0EDE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4-table relational database schema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F0EDE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spanning orders, order_details, pizzas, and pizza_types. SQL queries ranged from simple SELECT statements to complex multi-level subqueries and CTEs. All analysis was documented and version-controlled on GitHub for reproducibility.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0EDE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techniques included: 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D4A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JOIN operations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0EDE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across 4 tables, 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D4A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aggregate functions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0EDE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(SUM, COUNT, AVG), 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D4A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window functions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0EDE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(ROW_NUMBER, RANK), and 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D4A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CTEs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0EDE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modular query design.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986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8A8A9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bgqw5tvjicdtk/mnt/agents/output/pizza_sales/images/6_Analytics_Dashboard_Black_Background.png">    </p:cNvPr>
          <p:cNvPicPr>
            <a:picLocks noChangeAspect="1"/>
          </p:cNvPicPr>
          <p:nvPr/>
        </p:nvPicPr>
        <p:blipFill>
          <a:blip r:embed="rId1"/>
          <a:srcRect l="5556" r="5556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41419">
                  <a:alpha val="25000"/>
                </a:srgbClr>
              </a:gs>
              <a:gs pos="40000">
                <a:srgbClr val="141419">
                  <a:alpha val="69000"/>
                </a:srgbClr>
              </a:gs>
              <a:gs pos="100000">
                <a:srgbClr val="141419">
                  <a:alpha val="94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588000" y="2794000"/>
            <a:ext cx="508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7200" spc="600" kern="0" dirty="0">
                <a:solidFill>
                  <a:srgbClr val="D4A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493000" y="4064000"/>
            <a:ext cx="1270000" cy="38100"/>
          </a:xfrm>
          <a:prstGeom prst="rect">
            <a:avLst/>
          </a:prstGeom>
          <a:solidFill>
            <a:srgbClr val="D4A03A"/>
          </a:solidFill>
          <a:ln/>
        </p:spPr>
      </p:sp>
      <p:sp>
        <p:nvSpPr>
          <p:cNvPr id="6" name="Text 3"/>
          <p:cNvSpPr/>
          <p:nvPr/>
        </p:nvSpPr>
        <p:spPr>
          <a:xfrm>
            <a:off x="3683000" y="4318000"/>
            <a:ext cx="889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spc="400" kern="0" dirty="0">
                <a:solidFill>
                  <a:srgbClr val="F0ED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 ANALYSIS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683000" y="5270500"/>
            <a:ext cx="889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8A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Query techniques and business questions answered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D4A03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D4A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 Concepts Applied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41400"/>
            <a:ext cx="14732000" cy="12700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33500"/>
            <a:ext cx="7048500" cy="1651000"/>
          </a:xfrm>
          <a:prstGeom prst="rect">
            <a:avLst/>
          </a:prstGeom>
          <a:solidFill>
            <a:srgbClr val="1E1E26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333500"/>
            <a:ext cx="50800" cy="1651000"/>
          </a:xfrm>
          <a:prstGeom prst="rect">
            <a:avLst/>
          </a:prstGeom>
          <a:solidFill>
            <a:srgbClr val="6B9BD1"/>
          </a:solidFill>
          <a:ln/>
        </p:spPr>
      </p:sp>
      <p:sp>
        <p:nvSpPr>
          <p:cNvPr id="7" name="Shape 5"/>
          <p:cNvSpPr/>
          <p:nvPr/>
        </p:nvSpPr>
        <p:spPr>
          <a:xfrm>
            <a:off x="1054100" y="15875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332978" y="76200"/>
                </a:moveTo>
                <a:cubicBezTo>
                  <a:pt x="319802" y="76200"/>
                  <a:pt x="307023" y="79772"/>
                  <a:pt x="295831" y="86281"/>
                </a:cubicBezTo>
                <a:cubicBezTo>
                  <a:pt x="283289" y="73581"/>
                  <a:pt x="268684" y="62944"/>
                  <a:pt x="252571" y="54928"/>
                </a:cubicBezTo>
                <a:cubicBezTo>
                  <a:pt x="274955" y="35878"/>
                  <a:pt x="303451" y="25400"/>
                  <a:pt x="332978" y="25400"/>
                </a:cubicBezTo>
                <a:cubicBezTo>
                  <a:pt x="401558" y="25400"/>
                  <a:pt x="457200" y="80963"/>
                  <a:pt x="457200" y="149622"/>
                </a:cubicBezTo>
                <a:cubicBezTo>
                  <a:pt x="457200" y="182563"/>
                  <a:pt x="444103" y="214154"/>
                  <a:pt x="420846" y="237411"/>
                </a:cubicBezTo>
                <a:lnTo>
                  <a:pt x="364411" y="293846"/>
                </a:lnTo>
                <a:cubicBezTo>
                  <a:pt x="341154" y="317103"/>
                  <a:pt x="309563" y="330200"/>
                  <a:pt x="276622" y="330200"/>
                </a:cubicBezTo>
                <a:cubicBezTo>
                  <a:pt x="208042" y="330200"/>
                  <a:pt x="152400" y="274638"/>
                  <a:pt x="152400" y="205978"/>
                </a:cubicBezTo>
                <a:cubicBezTo>
                  <a:pt x="152400" y="204788"/>
                  <a:pt x="152400" y="203597"/>
                  <a:pt x="152479" y="202406"/>
                </a:cubicBezTo>
                <a:cubicBezTo>
                  <a:pt x="152876" y="188357"/>
                  <a:pt x="164544" y="177324"/>
                  <a:pt x="178594" y="177721"/>
                </a:cubicBezTo>
                <a:cubicBezTo>
                  <a:pt x="192643" y="178118"/>
                  <a:pt x="203676" y="189786"/>
                  <a:pt x="203279" y="203835"/>
                </a:cubicBezTo>
                <a:cubicBezTo>
                  <a:pt x="203279" y="204549"/>
                  <a:pt x="203279" y="205264"/>
                  <a:pt x="203279" y="205899"/>
                </a:cubicBezTo>
                <a:cubicBezTo>
                  <a:pt x="203279" y="246459"/>
                  <a:pt x="236141" y="279321"/>
                  <a:pt x="276701" y="279321"/>
                </a:cubicBezTo>
                <a:cubicBezTo>
                  <a:pt x="296148" y="279321"/>
                  <a:pt x="314801" y="271621"/>
                  <a:pt x="328613" y="257810"/>
                </a:cubicBezTo>
                <a:lnTo>
                  <a:pt x="385048" y="201374"/>
                </a:lnTo>
                <a:cubicBezTo>
                  <a:pt x="398780" y="187643"/>
                  <a:pt x="406559" y="168910"/>
                  <a:pt x="406559" y="149463"/>
                </a:cubicBezTo>
                <a:cubicBezTo>
                  <a:pt x="406559" y="108903"/>
                  <a:pt x="373698" y="76041"/>
                  <a:pt x="333137" y="76041"/>
                </a:cubicBezTo>
                <a:close/>
                <a:moveTo>
                  <a:pt x="218440" y="137557"/>
                </a:moveTo>
                <a:cubicBezTo>
                  <a:pt x="216932" y="136922"/>
                  <a:pt x="215424" y="136049"/>
                  <a:pt x="214074" y="135096"/>
                </a:cubicBezTo>
                <a:cubicBezTo>
                  <a:pt x="204073" y="129937"/>
                  <a:pt x="192643" y="127000"/>
                  <a:pt x="180658" y="127000"/>
                </a:cubicBezTo>
                <a:cubicBezTo>
                  <a:pt x="161211" y="127000"/>
                  <a:pt x="142558" y="134699"/>
                  <a:pt x="128746" y="148511"/>
                </a:cubicBezTo>
                <a:lnTo>
                  <a:pt x="72311" y="204946"/>
                </a:lnTo>
                <a:cubicBezTo>
                  <a:pt x="58579" y="218678"/>
                  <a:pt x="50800" y="237411"/>
                  <a:pt x="50800" y="256858"/>
                </a:cubicBezTo>
                <a:cubicBezTo>
                  <a:pt x="50800" y="297418"/>
                  <a:pt x="83661" y="330279"/>
                  <a:pt x="124222" y="330279"/>
                </a:cubicBezTo>
                <a:cubicBezTo>
                  <a:pt x="137319" y="330279"/>
                  <a:pt x="150098" y="326787"/>
                  <a:pt x="161290" y="320278"/>
                </a:cubicBezTo>
                <a:cubicBezTo>
                  <a:pt x="173831" y="332978"/>
                  <a:pt x="188436" y="343614"/>
                  <a:pt x="204629" y="351631"/>
                </a:cubicBezTo>
                <a:cubicBezTo>
                  <a:pt x="182245" y="370602"/>
                  <a:pt x="153829" y="381159"/>
                  <a:pt x="124222" y="381159"/>
                </a:cubicBezTo>
                <a:cubicBezTo>
                  <a:pt x="55642" y="381159"/>
                  <a:pt x="0" y="325596"/>
                  <a:pt x="0" y="256937"/>
                </a:cubicBezTo>
                <a:cubicBezTo>
                  <a:pt x="0" y="223996"/>
                  <a:pt x="13097" y="192405"/>
                  <a:pt x="36354" y="169148"/>
                </a:cubicBezTo>
                <a:lnTo>
                  <a:pt x="92789" y="112713"/>
                </a:lnTo>
                <a:cubicBezTo>
                  <a:pt x="116046" y="89456"/>
                  <a:pt x="147638" y="76359"/>
                  <a:pt x="180578" y="76359"/>
                </a:cubicBezTo>
                <a:cubicBezTo>
                  <a:pt x="249317" y="76359"/>
                  <a:pt x="304800" y="132398"/>
                  <a:pt x="304800" y="200898"/>
                </a:cubicBezTo>
                <a:cubicBezTo>
                  <a:pt x="304800" y="201930"/>
                  <a:pt x="304800" y="202962"/>
                  <a:pt x="304800" y="203994"/>
                </a:cubicBezTo>
                <a:cubicBezTo>
                  <a:pt x="304483" y="218043"/>
                  <a:pt x="292814" y="229076"/>
                  <a:pt x="278765" y="228759"/>
                </a:cubicBezTo>
                <a:cubicBezTo>
                  <a:pt x="264716" y="228441"/>
                  <a:pt x="253682" y="216773"/>
                  <a:pt x="254000" y="202724"/>
                </a:cubicBezTo>
                <a:cubicBezTo>
                  <a:pt x="254000" y="202089"/>
                  <a:pt x="254000" y="201533"/>
                  <a:pt x="254000" y="200898"/>
                </a:cubicBezTo>
                <a:cubicBezTo>
                  <a:pt x="254000" y="174149"/>
                  <a:pt x="239713" y="150654"/>
                  <a:pt x="218440" y="137716"/>
                </a:cubicBezTo>
                <a:close/>
              </a:path>
            </a:pathLst>
          </a:custGeom>
          <a:solidFill>
            <a:srgbClr val="6B9BD1"/>
          </a:solidFill>
          <a:ln/>
        </p:spPr>
      </p:sp>
      <p:sp>
        <p:nvSpPr>
          <p:cNvPr id="8" name="Text 6"/>
          <p:cNvSpPr/>
          <p:nvPr/>
        </p:nvSpPr>
        <p:spPr>
          <a:xfrm>
            <a:off x="1651000" y="1524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0ED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Joins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51000" y="1968500"/>
            <a:ext cx="5905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8A8A9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Combined orders, pizzas, and order_details tables using INNER JOIN and LEFT JOIN for comprehensive multi-table analysis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445500" y="1333500"/>
            <a:ext cx="7048500" cy="1651000"/>
          </a:xfrm>
          <a:prstGeom prst="rect">
            <a:avLst/>
          </a:prstGeom>
          <a:solidFill>
            <a:srgbClr val="1E1E26"/>
          </a:solidFill>
          <a:ln/>
        </p:spPr>
      </p:sp>
      <p:sp>
        <p:nvSpPr>
          <p:cNvPr id="11" name="Shape 9"/>
          <p:cNvSpPr/>
          <p:nvPr/>
        </p:nvSpPr>
        <p:spPr>
          <a:xfrm>
            <a:off x="8445500" y="1333500"/>
            <a:ext cx="50800" cy="1651000"/>
          </a:xfrm>
          <a:prstGeom prst="rect">
            <a:avLst/>
          </a:prstGeom>
          <a:solidFill>
            <a:srgbClr val="5DBE8A"/>
          </a:solidFill>
          <a:ln/>
        </p:spPr>
      </p:sp>
      <p:sp>
        <p:nvSpPr>
          <p:cNvPr id="12" name="Shape 10"/>
          <p:cNvSpPr/>
          <p:nvPr/>
        </p:nvSpPr>
        <p:spPr>
          <a:xfrm>
            <a:off x="8813800" y="15875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50800" y="0"/>
                </a:moveTo>
                <a:cubicBezTo>
                  <a:pt x="22781" y="0"/>
                  <a:pt x="0" y="22781"/>
                  <a:pt x="0" y="50800"/>
                </a:cubicBezTo>
                <a:lnTo>
                  <a:pt x="0" y="355600"/>
                </a:lnTo>
                <a:cubicBezTo>
                  <a:pt x="0" y="383619"/>
                  <a:pt x="22781" y="406400"/>
                  <a:pt x="50800" y="406400"/>
                </a:cubicBezTo>
                <a:lnTo>
                  <a:pt x="254000" y="406400"/>
                </a:lnTo>
                <a:cubicBezTo>
                  <a:pt x="282019" y="406400"/>
                  <a:pt x="304800" y="383619"/>
                  <a:pt x="304800" y="355600"/>
                </a:cubicBezTo>
                <a:lnTo>
                  <a:pt x="304800" y="50800"/>
                </a:lnTo>
                <a:cubicBezTo>
                  <a:pt x="304800" y="22781"/>
                  <a:pt x="282019" y="0"/>
                  <a:pt x="254000" y="0"/>
                </a:cubicBezTo>
                <a:lnTo>
                  <a:pt x="50800" y="0"/>
                </a:lnTo>
                <a:close/>
                <a:moveTo>
                  <a:pt x="76200" y="50800"/>
                </a:moveTo>
                <a:lnTo>
                  <a:pt x="228600" y="50800"/>
                </a:lnTo>
                <a:cubicBezTo>
                  <a:pt x="242649" y="50800"/>
                  <a:pt x="254000" y="62151"/>
                  <a:pt x="254000" y="76200"/>
                </a:cubicBezTo>
                <a:lnTo>
                  <a:pt x="254000" y="101600"/>
                </a:lnTo>
                <a:cubicBezTo>
                  <a:pt x="254000" y="115649"/>
                  <a:pt x="242649" y="127000"/>
                  <a:pt x="228600" y="127000"/>
                </a:cubicBezTo>
                <a:lnTo>
                  <a:pt x="76200" y="127000"/>
                </a:lnTo>
                <a:cubicBezTo>
                  <a:pt x="62151" y="127000"/>
                  <a:pt x="50800" y="115649"/>
                  <a:pt x="50800" y="101600"/>
                </a:cubicBezTo>
                <a:lnTo>
                  <a:pt x="50800" y="76200"/>
                </a:lnTo>
                <a:cubicBezTo>
                  <a:pt x="50800" y="62151"/>
                  <a:pt x="62151" y="50800"/>
                  <a:pt x="76200" y="50800"/>
                </a:cubicBezTo>
                <a:close/>
                <a:moveTo>
                  <a:pt x="88900" y="184150"/>
                </a:moveTo>
                <a:cubicBezTo>
                  <a:pt x="88900" y="194664"/>
                  <a:pt x="80364" y="203200"/>
                  <a:pt x="69850" y="203200"/>
                </a:cubicBezTo>
                <a:cubicBezTo>
                  <a:pt x="59336" y="203200"/>
                  <a:pt x="50800" y="194664"/>
                  <a:pt x="50800" y="184150"/>
                </a:cubicBezTo>
                <a:cubicBezTo>
                  <a:pt x="50800" y="173636"/>
                  <a:pt x="59336" y="165100"/>
                  <a:pt x="69850" y="165100"/>
                </a:cubicBezTo>
                <a:cubicBezTo>
                  <a:pt x="80364" y="165100"/>
                  <a:pt x="88900" y="173636"/>
                  <a:pt x="88900" y="184150"/>
                </a:cubicBezTo>
                <a:close/>
                <a:moveTo>
                  <a:pt x="152400" y="203200"/>
                </a:moveTo>
                <a:cubicBezTo>
                  <a:pt x="141886" y="203200"/>
                  <a:pt x="133350" y="194664"/>
                  <a:pt x="133350" y="184150"/>
                </a:cubicBezTo>
                <a:cubicBezTo>
                  <a:pt x="133350" y="173636"/>
                  <a:pt x="141886" y="165100"/>
                  <a:pt x="152400" y="165100"/>
                </a:cubicBezTo>
                <a:cubicBezTo>
                  <a:pt x="162914" y="165100"/>
                  <a:pt x="171450" y="173636"/>
                  <a:pt x="171450" y="184150"/>
                </a:cubicBezTo>
                <a:cubicBezTo>
                  <a:pt x="171450" y="194664"/>
                  <a:pt x="162914" y="203200"/>
                  <a:pt x="152400" y="203200"/>
                </a:cubicBezTo>
                <a:close/>
                <a:moveTo>
                  <a:pt x="254000" y="184150"/>
                </a:moveTo>
                <a:cubicBezTo>
                  <a:pt x="254000" y="194664"/>
                  <a:pt x="245464" y="203200"/>
                  <a:pt x="234950" y="203200"/>
                </a:cubicBezTo>
                <a:cubicBezTo>
                  <a:pt x="224436" y="203200"/>
                  <a:pt x="215900" y="194664"/>
                  <a:pt x="215900" y="184150"/>
                </a:cubicBezTo>
                <a:cubicBezTo>
                  <a:pt x="215900" y="173636"/>
                  <a:pt x="224436" y="165100"/>
                  <a:pt x="234950" y="165100"/>
                </a:cubicBezTo>
                <a:cubicBezTo>
                  <a:pt x="245464" y="165100"/>
                  <a:pt x="254000" y="173636"/>
                  <a:pt x="254000" y="184150"/>
                </a:cubicBezTo>
                <a:close/>
                <a:moveTo>
                  <a:pt x="69850" y="279400"/>
                </a:moveTo>
                <a:cubicBezTo>
                  <a:pt x="59336" y="279400"/>
                  <a:pt x="50800" y="270864"/>
                  <a:pt x="50800" y="260350"/>
                </a:cubicBezTo>
                <a:cubicBezTo>
                  <a:pt x="50800" y="249836"/>
                  <a:pt x="59336" y="241300"/>
                  <a:pt x="69850" y="241300"/>
                </a:cubicBezTo>
                <a:cubicBezTo>
                  <a:pt x="80364" y="241300"/>
                  <a:pt x="88900" y="249836"/>
                  <a:pt x="88900" y="260350"/>
                </a:cubicBezTo>
                <a:cubicBezTo>
                  <a:pt x="88900" y="270864"/>
                  <a:pt x="80364" y="279400"/>
                  <a:pt x="69850" y="279400"/>
                </a:cubicBezTo>
                <a:close/>
                <a:moveTo>
                  <a:pt x="171450" y="260350"/>
                </a:moveTo>
                <a:cubicBezTo>
                  <a:pt x="171450" y="270864"/>
                  <a:pt x="162914" y="279400"/>
                  <a:pt x="152400" y="279400"/>
                </a:cubicBezTo>
                <a:cubicBezTo>
                  <a:pt x="141886" y="279400"/>
                  <a:pt x="133350" y="270864"/>
                  <a:pt x="133350" y="260350"/>
                </a:cubicBezTo>
                <a:cubicBezTo>
                  <a:pt x="133350" y="249836"/>
                  <a:pt x="141886" y="241300"/>
                  <a:pt x="152400" y="241300"/>
                </a:cubicBezTo>
                <a:cubicBezTo>
                  <a:pt x="162914" y="241300"/>
                  <a:pt x="171450" y="249836"/>
                  <a:pt x="171450" y="260350"/>
                </a:cubicBezTo>
                <a:close/>
                <a:moveTo>
                  <a:pt x="234950" y="279400"/>
                </a:moveTo>
                <a:cubicBezTo>
                  <a:pt x="224436" y="279400"/>
                  <a:pt x="215900" y="270864"/>
                  <a:pt x="215900" y="260350"/>
                </a:cubicBezTo>
                <a:cubicBezTo>
                  <a:pt x="215900" y="249836"/>
                  <a:pt x="224436" y="241300"/>
                  <a:pt x="234950" y="241300"/>
                </a:cubicBezTo>
                <a:cubicBezTo>
                  <a:pt x="245464" y="241300"/>
                  <a:pt x="254000" y="249836"/>
                  <a:pt x="254000" y="260350"/>
                </a:cubicBezTo>
                <a:cubicBezTo>
                  <a:pt x="254000" y="270864"/>
                  <a:pt x="245464" y="279400"/>
                  <a:pt x="234950" y="279400"/>
                </a:cubicBezTo>
                <a:close/>
                <a:moveTo>
                  <a:pt x="50800" y="336550"/>
                </a:moveTo>
                <a:cubicBezTo>
                  <a:pt x="50800" y="325993"/>
                  <a:pt x="59293" y="317500"/>
                  <a:pt x="69850" y="317500"/>
                </a:cubicBezTo>
                <a:lnTo>
                  <a:pt x="158750" y="317500"/>
                </a:lnTo>
                <a:cubicBezTo>
                  <a:pt x="169307" y="317500"/>
                  <a:pt x="177800" y="325993"/>
                  <a:pt x="177800" y="336550"/>
                </a:cubicBezTo>
                <a:cubicBezTo>
                  <a:pt x="177800" y="347107"/>
                  <a:pt x="169307" y="355600"/>
                  <a:pt x="158750" y="355600"/>
                </a:cubicBezTo>
                <a:lnTo>
                  <a:pt x="69850" y="355600"/>
                </a:lnTo>
                <a:cubicBezTo>
                  <a:pt x="59293" y="355600"/>
                  <a:pt x="50800" y="347107"/>
                  <a:pt x="50800" y="336550"/>
                </a:cubicBezTo>
                <a:close/>
                <a:moveTo>
                  <a:pt x="234950" y="317500"/>
                </a:moveTo>
                <a:cubicBezTo>
                  <a:pt x="245507" y="317500"/>
                  <a:pt x="254000" y="325993"/>
                  <a:pt x="254000" y="336550"/>
                </a:cubicBezTo>
                <a:cubicBezTo>
                  <a:pt x="254000" y="347107"/>
                  <a:pt x="245507" y="355600"/>
                  <a:pt x="234950" y="355600"/>
                </a:cubicBezTo>
                <a:cubicBezTo>
                  <a:pt x="224393" y="355600"/>
                  <a:pt x="215900" y="347107"/>
                  <a:pt x="215900" y="336550"/>
                </a:cubicBezTo>
                <a:cubicBezTo>
                  <a:pt x="215900" y="325993"/>
                  <a:pt x="224393" y="317500"/>
                  <a:pt x="234950" y="317500"/>
                </a:cubicBezTo>
                <a:close/>
              </a:path>
            </a:pathLst>
          </a:custGeom>
          <a:solidFill>
            <a:srgbClr val="5DBE8A"/>
          </a:solidFill>
          <a:ln/>
        </p:spPr>
      </p:sp>
      <p:sp>
        <p:nvSpPr>
          <p:cNvPr id="13" name="Text 11"/>
          <p:cNvSpPr/>
          <p:nvPr/>
        </p:nvSpPr>
        <p:spPr>
          <a:xfrm>
            <a:off x="9334500" y="1524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0ED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Aggregations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334500" y="1968500"/>
            <a:ext cx="5905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8A8A9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SUM, COUNT, AVG, MIN, MAX functions to compute revenue totals, order counts, and average order values across dimensions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62000" y="3365500"/>
            <a:ext cx="7048500" cy="1651000"/>
          </a:xfrm>
          <a:prstGeom prst="rect">
            <a:avLst/>
          </a:prstGeom>
          <a:solidFill>
            <a:srgbClr val="1E1E26"/>
          </a:solidFill>
          <a:ln/>
        </p:spPr>
      </p:sp>
      <p:sp>
        <p:nvSpPr>
          <p:cNvPr id="16" name="Shape 14"/>
          <p:cNvSpPr/>
          <p:nvPr/>
        </p:nvSpPr>
        <p:spPr>
          <a:xfrm>
            <a:off x="762000" y="3365500"/>
            <a:ext cx="50800" cy="1651000"/>
          </a:xfrm>
          <a:prstGeom prst="rect">
            <a:avLst/>
          </a:prstGeom>
          <a:solidFill>
            <a:srgbClr val="E87A5D"/>
          </a:solidFill>
          <a:ln/>
        </p:spPr>
      </p:sp>
      <p:sp>
        <p:nvSpPr>
          <p:cNvPr id="17" name="Shape 15"/>
          <p:cNvSpPr/>
          <p:nvPr/>
        </p:nvSpPr>
        <p:spPr>
          <a:xfrm>
            <a:off x="1104900" y="36195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63500" y="82550"/>
                </a:moveTo>
                <a:cubicBezTo>
                  <a:pt x="74014" y="82550"/>
                  <a:pt x="82550" y="74014"/>
                  <a:pt x="82550" y="63500"/>
                </a:cubicBezTo>
                <a:cubicBezTo>
                  <a:pt x="82550" y="52986"/>
                  <a:pt x="74014" y="44450"/>
                  <a:pt x="63500" y="44450"/>
                </a:cubicBezTo>
                <a:cubicBezTo>
                  <a:pt x="52986" y="44450"/>
                  <a:pt x="44450" y="52986"/>
                  <a:pt x="44450" y="63500"/>
                </a:cubicBezTo>
                <a:cubicBezTo>
                  <a:pt x="44450" y="74014"/>
                  <a:pt x="52986" y="82550"/>
                  <a:pt x="63500" y="82550"/>
                </a:cubicBezTo>
                <a:close/>
                <a:moveTo>
                  <a:pt x="127000" y="63500"/>
                </a:moveTo>
                <a:cubicBezTo>
                  <a:pt x="127000" y="89535"/>
                  <a:pt x="111363" y="111919"/>
                  <a:pt x="88900" y="121682"/>
                </a:cubicBezTo>
                <a:lnTo>
                  <a:pt x="88900" y="177800"/>
                </a:lnTo>
                <a:lnTo>
                  <a:pt x="228600" y="177800"/>
                </a:lnTo>
                <a:cubicBezTo>
                  <a:pt x="249634" y="177800"/>
                  <a:pt x="266700" y="160734"/>
                  <a:pt x="266700" y="139700"/>
                </a:cubicBezTo>
                <a:lnTo>
                  <a:pt x="266700" y="121682"/>
                </a:lnTo>
                <a:cubicBezTo>
                  <a:pt x="244237" y="111919"/>
                  <a:pt x="228600" y="89535"/>
                  <a:pt x="228600" y="63500"/>
                </a:cubicBezTo>
                <a:cubicBezTo>
                  <a:pt x="228600" y="28416"/>
                  <a:pt x="257016" y="0"/>
                  <a:pt x="292100" y="0"/>
                </a:cubicBezTo>
                <a:cubicBezTo>
                  <a:pt x="327184" y="0"/>
                  <a:pt x="355600" y="28416"/>
                  <a:pt x="355600" y="63500"/>
                </a:cubicBezTo>
                <a:cubicBezTo>
                  <a:pt x="355600" y="89535"/>
                  <a:pt x="339963" y="111919"/>
                  <a:pt x="317500" y="121682"/>
                </a:cubicBezTo>
                <a:lnTo>
                  <a:pt x="317500" y="139700"/>
                </a:lnTo>
                <a:cubicBezTo>
                  <a:pt x="317500" y="188833"/>
                  <a:pt x="277733" y="228600"/>
                  <a:pt x="228600" y="228600"/>
                </a:cubicBezTo>
                <a:lnTo>
                  <a:pt x="88900" y="228600"/>
                </a:lnTo>
                <a:lnTo>
                  <a:pt x="88900" y="284718"/>
                </a:lnTo>
                <a:cubicBezTo>
                  <a:pt x="111363" y="294481"/>
                  <a:pt x="127000" y="316865"/>
                  <a:pt x="127000" y="342900"/>
                </a:cubicBezTo>
                <a:cubicBezTo>
                  <a:pt x="127000" y="377984"/>
                  <a:pt x="98584" y="406400"/>
                  <a:pt x="63500" y="406400"/>
                </a:cubicBezTo>
                <a:cubicBezTo>
                  <a:pt x="28416" y="406400"/>
                  <a:pt x="0" y="377984"/>
                  <a:pt x="0" y="342900"/>
                </a:cubicBezTo>
                <a:cubicBezTo>
                  <a:pt x="0" y="316865"/>
                  <a:pt x="15637" y="294481"/>
                  <a:pt x="38100" y="284718"/>
                </a:cubicBezTo>
                <a:lnTo>
                  <a:pt x="38100" y="121761"/>
                </a:lnTo>
                <a:cubicBezTo>
                  <a:pt x="15637" y="111919"/>
                  <a:pt x="0" y="89535"/>
                  <a:pt x="0" y="63500"/>
                </a:cubicBezTo>
                <a:cubicBezTo>
                  <a:pt x="0" y="28416"/>
                  <a:pt x="28416" y="0"/>
                  <a:pt x="63500" y="0"/>
                </a:cubicBezTo>
                <a:cubicBezTo>
                  <a:pt x="98584" y="0"/>
                  <a:pt x="127000" y="28416"/>
                  <a:pt x="127000" y="63500"/>
                </a:cubicBezTo>
                <a:close/>
                <a:moveTo>
                  <a:pt x="311150" y="63500"/>
                </a:moveTo>
                <a:cubicBezTo>
                  <a:pt x="311150" y="52986"/>
                  <a:pt x="302614" y="44450"/>
                  <a:pt x="292100" y="44450"/>
                </a:cubicBezTo>
                <a:cubicBezTo>
                  <a:pt x="281586" y="44450"/>
                  <a:pt x="273050" y="52986"/>
                  <a:pt x="273050" y="63500"/>
                </a:cubicBezTo>
                <a:cubicBezTo>
                  <a:pt x="273050" y="74014"/>
                  <a:pt x="281586" y="82550"/>
                  <a:pt x="292100" y="82550"/>
                </a:cubicBezTo>
                <a:cubicBezTo>
                  <a:pt x="302614" y="82550"/>
                  <a:pt x="311150" y="74014"/>
                  <a:pt x="311150" y="63500"/>
                </a:cubicBezTo>
                <a:close/>
                <a:moveTo>
                  <a:pt x="63500" y="361950"/>
                </a:moveTo>
                <a:cubicBezTo>
                  <a:pt x="74014" y="361950"/>
                  <a:pt x="82550" y="353414"/>
                  <a:pt x="82550" y="342900"/>
                </a:cubicBezTo>
                <a:cubicBezTo>
                  <a:pt x="82550" y="332386"/>
                  <a:pt x="74014" y="323850"/>
                  <a:pt x="63500" y="323850"/>
                </a:cubicBezTo>
                <a:cubicBezTo>
                  <a:pt x="52986" y="323850"/>
                  <a:pt x="44450" y="332386"/>
                  <a:pt x="44450" y="342900"/>
                </a:cubicBezTo>
                <a:cubicBezTo>
                  <a:pt x="44450" y="353414"/>
                  <a:pt x="52986" y="361950"/>
                  <a:pt x="63500" y="361950"/>
                </a:cubicBezTo>
                <a:close/>
              </a:path>
            </a:pathLst>
          </a:custGeom>
          <a:solidFill>
            <a:srgbClr val="E87A5D"/>
          </a:solidFill>
          <a:ln/>
        </p:spPr>
      </p:sp>
      <p:sp>
        <p:nvSpPr>
          <p:cNvPr id="18" name="Text 16"/>
          <p:cNvSpPr/>
          <p:nvPr/>
        </p:nvSpPr>
        <p:spPr>
          <a:xfrm>
            <a:off x="1651000" y="3556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0ED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Subqueries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51000" y="4000500"/>
            <a:ext cx="5905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8A8A9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Nested queries for complex filtering, ranking operations, and correlating data across multiple aggregation levels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445500" y="3365500"/>
            <a:ext cx="7048500" cy="1651000"/>
          </a:xfrm>
          <a:prstGeom prst="rect">
            <a:avLst/>
          </a:prstGeom>
          <a:solidFill>
            <a:srgbClr val="1E1E26"/>
          </a:solidFill>
          <a:ln/>
        </p:spPr>
      </p:sp>
      <p:sp>
        <p:nvSpPr>
          <p:cNvPr id="21" name="Shape 19"/>
          <p:cNvSpPr/>
          <p:nvPr/>
        </p:nvSpPr>
        <p:spPr>
          <a:xfrm>
            <a:off x="8445500" y="3365500"/>
            <a:ext cx="50800" cy="1651000"/>
          </a:xfrm>
          <a:prstGeom prst="rect">
            <a:avLst/>
          </a:prstGeom>
          <a:solidFill>
            <a:srgbClr val="D4A03A"/>
          </a:solidFill>
          <a:ln/>
        </p:spPr>
      </p:sp>
      <p:sp>
        <p:nvSpPr>
          <p:cNvPr id="22" name="Shape 20"/>
          <p:cNvSpPr/>
          <p:nvPr/>
        </p:nvSpPr>
        <p:spPr>
          <a:xfrm>
            <a:off x="8763000" y="3619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50800"/>
                </a:moveTo>
                <a:cubicBezTo>
                  <a:pt x="22781" y="50800"/>
                  <a:pt x="0" y="73581"/>
                  <a:pt x="0" y="101600"/>
                </a:cubicBezTo>
                <a:lnTo>
                  <a:pt x="0" y="304800"/>
                </a:lnTo>
                <a:cubicBezTo>
                  <a:pt x="0" y="332819"/>
                  <a:pt x="22781" y="355600"/>
                  <a:pt x="50800" y="355600"/>
                </a:cubicBezTo>
                <a:lnTo>
                  <a:pt x="355600" y="355600"/>
                </a:lnTo>
                <a:cubicBezTo>
                  <a:pt x="383619" y="355600"/>
                  <a:pt x="406400" y="332819"/>
                  <a:pt x="406400" y="304800"/>
                </a:cubicBezTo>
                <a:lnTo>
                  <a:pt x="406400" y="101600"/>
                </a:lnTo>
                <a:cubicBezTo>
                  <a:pt x="406400" y="73581"/>
                  <a:pt x="383619" y="50800"/>
                  <a:pt x="355600" y="50800"/>
                </a:cubicBezTo>
                <a:lnTo>
                  <a:pt x="50800" y="50800"/>
                </a:lnTo>
                <a:close/>
                <a:moveTo>
                  <a:pt x="69850" y="101600"/>
                </a:moveTo>
                <a:lnTo>
                  <a:pt x="336550" y="101600"/>
                </a:lnTo>
                <a:cubicBezTo>
                  <a:pt x="347107" y="101600"/>
                  <a:pt x="355600" y="110093"/>
                  <a:pt x="355600" y="120650"/>
                </a:cubicBezTo>
                <a:cubicBezTo>
                  <a:pt x="355600" y="131207"/>
                  <a:pt x="347107" y="139700"/>
                  <a:pt x="336550" y="139700"/>
                </a:cubicBezTo>
                <a:lnTo>
                  <a:pt x="69850" y="139700"/>
                </a:lnTo>
                <a:cubicBezTo>
                  <a:pt x="59293" y="139700"/>
                  <a:pt x="50800" y="131207"/>
                  <a:pt x="50800" y="120650"/>
                </a:cubicBezTo>
                <a:cubicBezTo>
                  <a:pt x="50800" y="110093"/>
                  <a:pt x="59293" y="101600"/>
                  <a:pt x="69850" y="101600"/>
                </a:cubicBezTo>
                <a:close/>
              </a:path>
            </a:pathLst>
          </a:custGeom>
          <a:solidFill>
            <a:srgbClr val="D4A03A"/>
          </a:solidFill>
          <a:ln/>
        </p:spPr>
      </p:sp>
      <p:sp>
        <p:nvSpPr>
          <p:cNvPr id="23" name="Text 21"/>
          <p:cNvSpPr/>
          <p:nvPr/>
        </p:nvSpPr>
        <p:spPr>
          <a:xfrm>
            <a:off x="9334500" y="35560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0ED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Window Functions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334500" y="4000500"/>
            <a:ext cx="5905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8A8A9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ROW_NUMBER, RANK, DENSE_RANK for top-N analysis, running totals, and year-over-year comparisons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62000" y="5461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D4A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QUERY COMPLEXITY BREAKDOWN</a:t>
            </a:r>
            <a:endParaRPr lang="en-US" sz="220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762000" y="6032500"/>
          <a:ext cx="69850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7" name="Text 24"/>
          <p:cNvSpPr/>
          <p:nvPr/>
        </p:nvSpPr>
        <p:spPr>
          <a:xfrm>
            <a:off x="8382000" y="6032500"/>
            <a:ext cx="7112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F0EDE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CTEs (Common Table Expressions)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0EDE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were used extensively to build modular, readable queries. Complex analysis was broken into named temporary result sets, making each query self-documenting.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0EDE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Total of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D4A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54 SQL queries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0EDE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written across all analysis dimensions, from data exploration to revenue attribution.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14986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8A8A9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D4A03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D4A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Questions Answered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41400"/>
            <a:ext cx="14732000" cy="12700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33500"/>
            <a:ext cx="7048500" cy="1333500"/>
          </a:xfrm>
          <a:prstGeom prst="rect">
            <a:avLst/>
          </a:prstGeom>
          <a:solidFill>
            <a:srgbClr val="1E1E26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1422400"/>
            <a:ext cx="50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D4A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24000" y="14224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0ED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Which pizzas generated the most revenue?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24000" y="1841500"/>
            <a:ext cx="609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D4A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→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8A8A9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Top 5 best-sellers identified. Thai Chicken Pizza leads at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8A8A9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$43.4K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8A8A9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 revenue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445500" y="1333500"/>
            <a:ext cx="7048500" cy="1333500"/>
          </a:xfrm>
          <a:prstGeom prst="rect">
            <a:avLst/>
          </a:prstGeom>
          <a:solidFill>
            <a:srgbClr val="1E1E26"/>
          </a:solidFill>
          <a:ln/>
        </p:spPr>
      </p:sp>
      <p:sp>
        <p:nvSpPr>
          <p:cNvPr id="10" name="Text 8"/>
          <p:cNvSpPr/>
          <p:nvPr/>
        </p:nvSpPr>
        <p:spPr>
          <a:xfrm>
            <a:off x="8636000" y="1422400"/>
            <a:ext cx="50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D4A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207500" y="14224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0ED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were the peak sales periods?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207500" y="1841500"/>
            <a:ext cx="609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D4A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→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8A8A9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Peak hours mapped: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8A8A9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12-1 PM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8A8A9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8A8A9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5-7 PM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8A8A9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Friday is the highest revenue day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62000" y="2984500"/>
            <a:ext cx="7048500" cy="1333500"/>
          </a:xfrm>
          <a:prstGeom prst="rect">
            <a:avLst/>
          </a:prstGeom>
          <a:solidFill>
            <a:srgbClr val="1E1E26"/>
          </a:solidFill>
          <a:ln/>
        </p:spPr>
      </p:sp>
      <p:sp>
        <p:nvSpPr>
          <p:cNvPr id="14" name="Text 12"/>
          <p:cNvSpPr/>
          <p:nvPr/>
        </p:nvSpPr>
        <p:spPr>
          <a:xfrm>
            <a:off x="952500" y="3073400"/>
            <a:ext cx="50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D4A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24000" y="30734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0ED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Which categories performed best?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24000" y="3492500"/>
            <a:ext cx="609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D4A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→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8A8A9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Classic leads in volume (26.9%), but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8A8A9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Chicken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8A8A9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has highest per-unit revenue at $24.0%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445500" y="2984500"/>
            <a:ext cx="7048500" cy="1333500"/>
          </a:xfrm>
          <a:prstGeom prst="rect">
            <a:avLst/>
          </a:prstGeom>
          <a:solidFill>
            <a:srgbClr val="1E1E26"/>
          </a:solidFill>
          <a:ln/>
        </p:spPr>
      </p:sp>
      <p:sp>
        <p:nvSpPr>
          <p:cNvPr id="18" name="Text 16"/>
          <p:cNvSpPr/>
          <p:nvPr/>
        </p:nvSpPr>
        <p:spPr>
          <a:xfrm>
            <a:off x="8636000" y="3073400"/>
            <a:ext cx="50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D4A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207500" y="30734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0ED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the average order value?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207500" y="3492500"/>
            <a:ext cx="609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D4A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→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8A8A9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Average order value is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8A8A9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$38.31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8A8A9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with large pizzas driving the highest ticket sizes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62000" y="4635500"/>
            <a:ext cx="7048500" cy="1333500"/>
          </a:xfrm>
          <a:prstGeom prst="rect">
            <a:avLst/>
          </a:prstGeom>
          <a:solidFill>
            <a:srgbClr val="1E1E26"/>
          </a:solidFill>
          <a:ln/>
        </p:spPr>
      </p:sp>
      <p:sp>
        <p:nvSpPr>
          <p:cNvPr id="22" name="Text 20"/>
          <p:cNvSpPr/>
          <p:nvPr/>
        </p:nvSpPr>
        <p:spPr>
          <a:xfrm>
            <a:off x="952500" y="4724400"/>
            <a:ext cx="50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D4A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24000" y="47244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0ED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does pizza size affect sales?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524000" y="5143500"/>
            <a:ext cx="609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D4A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→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8A8A9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Large pizzas dominate at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8A8A9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45.9%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8A8A9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of all orders, followed by Medium at 30.5%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445500" y="4635500"/>
            <a:ext cx="7048500" cy="1333500"/>
          </a:xfrm>
          <a:prstGeom prst="rect">
            <a:avLst/>
          </a:prstGeom>
          <a:solidFill>
            <a:srgbClr val="D4A03A"/>
          </a:solidFill>
          <a:ln/>
        </p:spPr>
      </p:sp>
      <p:sp>
        <p:nvSpPr>
          <p:cNvPr id="26" name="Text 24"/>
          <p:cNvSpPr/>
          <p:nvPr/>
        </p:nvSpPr>
        <p:spPr>
          <a:xfrm>
            <a:off x="8763000" y="4762500"/>
            <a:ext cx="64135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4141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5 questions answered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4141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through 54+ SQL queries, generating actionable insights for menu planning, inventory management, and staffing optimization.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2000" y="6413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D4A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ORDERS BY SIZE</a:t>
            </a:r>
            <a:endParaRPr lang="en-US" sz="22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762000" y="6858000"/>
          <a:ext cx="5080000" cy="1524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6604000" y="6413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D4A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PEAK ORDERING HOURS</a:t>
            </a:r>
            <a:endParaRPr lang="en-US" sz="2200" dirty="0"/>
          </a:p>
        </p:txBody>
      </p:sp>
      <p:graphicFrame>
        <p:nvGraphicFramePr>
          <p:cNvPr id="30" name="Chart 1" descr=""/>
          <p:cNvGraphicFramePr/>
          <p:nvPr/>
        </p:nvGraphicFramePr>
        <p:xfrm>
          <a:off x="6604000" y="6858000"/>
          <a:ext cx="8890000" cy="1524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1" name="Text 27"/>
          <p:cNvSpPr/>
          <p:nvPr/>
        </p:nvSpPr>
        <p:spPr>
          <a:xfrm>
            <a:off x="14986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8A8A9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bgqw5tvjicdtk/mnt/agents/output/pizza_sales/images/4_125_275_Pizza_With_Black_Background.png">    </p:cNvPr>
          <p:cNvPicPr>
            <a:picLocks noChangeAspect="1"/>
          </p:cNvPicPr>
          <p:nvPr/>
        </p:nvPicPr>
        <p:blipFill>
          <a:blip r:embed="rId1"/>
          <a:srcRect l="18132" r="18132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41419">
                  <a:alpha val="25000"/>
                </a:srgbClr>
              </a:gs>
              <a:gs pos="40000">
                <a:srgbClr val="141419">
                  <a:alpha val="69000"/>
                </a:srgbClr>
              </a:gs>
              <a:gs pos="100000">
                <a:srgbClr val="141419">
                  <a:alpha val="94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588000" y="2794000"/>
            <a:ext cx="508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7200" spc="600" kern="0" dirty="0">
                <a:solidFill>
                  <a:srgbClr val="D4A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493000" y="4064000"/>
            <a:ext cx="1270000" cy="38100"/>
          </a:xfrm>
          <a:prstGeom prst="rect">
            <a:avLst/>
          </a:prstGeom>
          <a:solidFill>
            <a:srgbClr val="D4A03A"/>
          </a:solidFill>
          <a:ln/>
        </p:spPr>
      </p:sp>
      <p:sp>
        <p:nvSpPr>
          <p:cNvPr id="6" name="Text 3"/>
          <p:cNvSpPr/>
          <p:nvPr/>
        </p:nvSpPr>
        <p:spPr>
          <a:xfrm>
            <a:off x="3048000" y="4318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spc="400" kern="0" dirty="0">
                <a:solidFill>
                  <a:srgbClr val="F0ED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FINDINGS &amp; INSIGHTS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683000" y="5270500"/>
            <a:ext cx="889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8A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Data-driven results and strategic recommendations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D4A03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D4A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Top-Selling Pizzas by Revenue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41400"/>
            <a:ext cx="14732000" cy="12700"/>
          </a:xfrm>
          <a:prstGeom prst="rect">
            <a:avLst/>
          </a:prstGeom>
          <a:solidFill>
            <a:srgbClr val="2A2A35"/>
          </a:solidFill>
          <a:ln/>
        </p:spPr>
      </p:sp>
      <p:graphicFrame>
        <p:nvGraphicFramePr>
          <p:cNvPr id="5" name="Chart 0" descr=""/>
          <p:cNvGraphicFramePr/>
          <p:nvPr/>
        </p:nvGraphicFramePr>
        <p:xfrm>
          <a:off x="762000" y="1270000"/>
          <a:ext cx="9906000" cy="711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11176000" y="1270000"/>
            <a:ext cx="4318000" cy="7112000"/>
          </a:xfrm>
          <a:prstGeom prst="rect">
            <a:avLst/>
          </a:prstGeom>
          <a:solidFill>
            <a:srgbClr val="1E1E26"/>
          </a:solidFill>
          <a:ln/>
        </p:spPr>
      </p:sp>
      <p:sp>
        <p:nvSpPr>
          <p:cNvPr id="7" name="Text 4"/>
          <p:cNvSpPr/>
          <p:nvPr/>
        </p:nvSpPr>
        <p:spPr>
          <a:xfrm>
            <a:off x="11493500" y="1524000"/>
            <a:ext cx="368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D4A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1493500" y="2006600"/>
            <a:ext cx="635000" cy="25400"/>
          </a:xfrm>
          <a:prstGeom prst="rect">
            <a:avLst/>
          </a:prstGeom>
          <a:solidFill>
            <a:srgbClr val="D4A03A"/>
          </a:solidFill>
          <a:ln/>
        </p:spPr>
      </p:sp>
      <p:sp>
        <p:nvSpPr>
          <p:cNvPr id="9" name="Text 6"/>
          <p:cNvSpPr/>
          <p:nvPr/>
        </p:nvSpPr>
        <p:spPr>
          <a:xfrm>
            <a:off x="11493500" y="2286000"/>
            <a:ext cx="3683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D4A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 of 5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493500" y="2946400"/>
            <a:ext cx="368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8A8A9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top revenue pizzas are from the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8A8A9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Chicken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8A8A9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category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1493500" y="3810000"/>
            <a:ext cx="3683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E87A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$43.4K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493500" y="4470400"/>
            <a:ext cx="368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8A8A9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Thai Chicken Pizza leads all products in total revenue generated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1493500" y="5334000"/>
            <a:ext cx="3683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5DB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$301.5K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1493500" y="5994400"/>
            <a:ext cx="368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8A8A9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combined revenue from just the top 8 pizzas shown above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1531600" y="69850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D4A03A"/>
          </a:solidFill>
          <a:ln/>
        </p:spPr>
      </p:sp>
      <p:sp>
        <p:nvSpPr>
          <p:cNvPr id="16" name="Text 13"/>
          <p:cNvSpPr/>
          <p:nvPr/>
        </p:nvSpPr>
        <p:spPr>
          <a:xfrm>
            <a:off x="11938000" y="6921500"/>
            <a:ext cx="3238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F0EDE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Recommendation: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0EDE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Promote chicken specialty pizzas in marketing campaigns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4986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8A8A9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D4A03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D4A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Sales Trends &amp; Category Performance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41400"/>
            <a:ext cx="14732000" cy="12700"/>
          </a:xfrm>
          <a:prstGeom prst="rect">
            <a:avLst/>
          </a:prstGeom>
          <a:solidFill>
            <a:srgbClr val="2A2A35"/>
          </a:solidFill>
          <a:ln/>
        </p:spPr>
      </p:sp>
      <p:graphicFrame>
        <p:nvGraphicFramePr>
          <p:cNvPr id="5" name="Chart 0" descr=""/>
          <p:cNvGraphicFramePr/>
          <p:nvPr/>
        </p:nvGraphicFramePr>
        <p:xfrm>
          <a:off x="762000" y="1270000"/>
          <a:ext cx="9144000" cy="3937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10414000" y="1270000"/>
          <a:ext cx="5080000" cy="3937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762000" y="5588000"/>
            <a:ext cx="3429000" cy="1752600"/>
          </a:xfrm>
          <a:prstGeom prst="rect">
            <a:avLst/>
          </a:prstGeom>
          <a:solidFill>
            <a:srgbClr val="1E1E26"/>
          </a:solidFill>
          <a:ln/>
        </p:spPr>
      </p:sp>
      <p:sp>
        <p:nvSpPr>
          <p:cNvPr id="8" name="Shape 4"/>
          <p:cNvSpPr/>
          <p:nvPr/>
        </p:nvSpPr>
        <p:spPr>
          <a:xfrm>
            <a:off x="996950" y="57785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28600" y="95250"/>
                </a:moveTo>
                <a:cubicBezTo>
                  <a:pt x="218063" y="95250"/>
                  <a:pt x="209550" y="86737"/>
                  <a:pt x="209550" y="76200"/>
                </a:cubicBezTo>
                <a:cubicBezTo>
                  <a:pt x="209550" y="65663"/>
                  <a:pt x="218063" y="57150"/>
                  <a:pt x="228600" y="57150"/>
                </a:cubicBezTo>
                <a:lnTo>
                  <a:pt x="323850" y="57150"/>
                </a:lnTo>
                <a:cubicBezTo>
                  <a:pt x="334387" y="57150"/>
                  <a:pt x="342900" y="65663"/>
                  <a:pt x="342900" y="76200"/>
                </a:cubicBezTo>
                <a:lnTo>
                  <a:pt x="342900" y="171450"/>
                </a:lnTo>
                <a:cubicBezTo>
                  <a:pt x="342900" y="181987"/>
                  <a:pt x="334387" y="190500"/>
                  <a:pt x="323850" y="190500"/>
                </a:cubicBezTo>
                <a:cubicBezTo>
                  <a:pt x="313313" y="190500"/>
                  <a:pt x="304800" y="181987"/>
                  <a:pt x="304800" y="171450"/>
                </a:cubicBezTo>
                <a:lnTo>
                  <a:pt x="304800" y="122218"/>
                </a:lnTo>
                <a:lnTo>
                  <a:pt x="203954" y="223064"/>
                </a:lnTo>
                <a:cubicBezTo>
                  <a:pt x="196513" y="230505"/>
                  <a:pt x="184428" y="230505"/>
                  <a:pt x="176986" y="223064"/>
                </a:cubicBezTo>
                <a:lnTo>
                  <a:pt x="114300" y="160318"/>
                </a:lnTo>
                <a:lnTo>
                  <a:pt x="32504" y="242054"/>
                </a:lnTo>
                <a:cubicBezTo>
                  <a:pt x="25063" y="249495"/>
                  <a:pt x="12978" y="249495"/>
                  <a:pt x="5536" y="242054"/>
                </a:cubicBezTo>
                <a:cubicBezTo>
                  <a:pt x="-1905" y="234613"/>
                  <a:pt x="-1905" y="222528"/>
                  <a:pt x="5536" y="215086"/>
                </a:cubicBezTo>
                <a:lnTo>
                  <a:pt x="100786" y="119836"/>
                </a:lnTo>
                <a:cubicBezTo>
                  <a:pt x="108228" y="112395"/>
                  <a:pt x="120313" y="112395"/>
                  <a:pt x="127754" y="119836"/>
                </a:cubicBezTo>
                <a:lnTo>
                  <a:pt x="190500" y="182582"/>
                </a:lnTo>
                <a:lnTo>
                  <a:pt x="277832" y="95250"/>
                </a:lnTo>
                <a:lnTo>
                  <a:pt x="228600" y="95250"/>
                </a:lnTo>
                <a:close/>
              </a:path>
            </a:pathLst>
          </a:custGeom>
          <a:solidFill>
            <a:srgbClr val="5DBE8A"/>
          </a:solidFill>
          <a:ln/>
        </p:spPr>
      </p:sp>
      <p:sp>
        <p:nvSpPr>
          <p:cNvPr id="9" name="Text 5"/>
          <p:cNvSpPr/>
          <p:nvPr/>
        </p:nvSpPr>
        <p:spPr>
          <a:xfrm>
            <a:off x="1460500" y="57404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0ED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Summer Peak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016000" y="6223000"/>
            <a:ext cx="2921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8A8A9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July and December show highest order volumes, indicating seasonal demand patterns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4572000" y="5588000"/>
            <a:ext cx="3429000" cy="1752600"/>
          </a:xfrm>
          <a:prstGeom prst="rect">
            <a:avLst/>
          </a:prstGeom>
          <a:solidFill>
            <a:srgbClr val="1E1E26"/>
          </a:solidFill>
          <a:ln/>
        </p:spPr>
      </p:sp>
      <p:sp>
        <p:nvSpPr>
          <p:cNvPr id="12" name="Shape 8"/>
          <p:cNvSpPr/>
          <p:nvPr/>
        </p:nvSpPr>
        <p:spPr>
          <a:xfrm>
            <a:off x="4826000" y="5778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ubicBezTo>
                  <a:pt x="0" y="68288"/>
                  <a:pt x="68288" y="0"/>
                  <a:pt x="152400" y="0"/>
                </a:cubicBezTo>
                <a:close/>
                <a:moveTo>
                  <a:pt x="138113" y="71438"/>
                </a:moveTo>
                <a:lnTo>
                  <a:pt x="138113" y="152400"/>
                </a:lnTo>
                <a:cubicBezTo>
                  <a:pt x="138113" y="157163"/>
                  <a:pt x="140494" y="161627"/>
                  <a:pt x="144482" y="164306"/>
                </a:cubicBezTo>
                <a:lnTo>
                  <a:pt x="201632" y="202406"/>
                </a:lnTo>
                <a:cubicBezTo>
                  <a:pt x="208181" y="206812"/>
                  <a:pt x="217051" y="205026"/>
                  <a:pt x="221456" y="198418"/>
                </a:cubicBezTo>
                <a:cubicBezTo>
                  <a:pt x="225862" y="191810"/>
                  <a:pt x="224076" y="182999"/>
                  <a:pt x="217468" y="178594"/>
                </a:cubicBezTo>
                <a:lnTo>
                  <a:pt x="166688" y="144780"/>
                </a:lnTo>
                <a:lnTo>
                  <a:pt x="166688" y="71438"/>
                </a:lnTo>
                <a:cubicBezTo>
                  <a:pt x="166688" y="63520"/>
                  <a:pt x="160318" y="57150"/>
                  <a:pt x="152400" y="57150"/>
                </a:cubicBezTo>
                <a:cubicBezTo>
                  <a:pt x="144482" y="57150"/>
                  <a:pt x="138113" y="63520"/>
                  <a:pt x="138113" y="71438"/>
                </a:cubicBezTo>
                <a:close/>
              </a:path>
            </a:pathLst>
          </a:custGeom>
          <a:solidFill>
            <a:srgbClr val="6B9BD1"/>
          </a:solidFill>
          <a:ln/>
        </p:spPr>
      </p:sp>
      <p:sp>
        <p:nvSpPr>
          <p:cNvPr id="13" name="Text 9"/>
          <p:cNvSpPr/>
          <p:nvPr/>
        </p:nvSpPr>
        <p:spPr>
          <a:xfrm>
            <a:off x="5270500" y="57404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0ED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Rush Hours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826000" y="6223000"/>
            <a:ext cx="2921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8A8A9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12-1 PM and 5-7 PM are peak ordering windows requiring optimized staffing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8382000" y="5588000"/>
            <a:ext cx="3429000" cy="1752600"/>
          </a:xfrm>
          <a:prstGeom prst="rect">
            <a:avLst/>
          </a:prstGeom>
          <a:solidFill>
            <a:srgbClr val="1E1E26"/>
          </a:solidFill>
          <a:ln/>
        </p:spPr>
      </p:sp>
      <p:sp>
        <p:nvSpPr>
          <p:cNvPr id="16" name="Shape 12"/>
          <p:cNvSpPr/>
          <p:nvPr/>
        </p:nvSpPr>
        <p:spPr>
          <a:xfrm>
            <a:off x="8655050" y="57785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76200" y="0"/>
                </a:moveTo>
                <a:cubicBezTo>
                  <a:pt x="86737" y="0"/>
                  <a:pt x="95250" y="8513"/>
                  <a:pt x="95250" y="19050"/>
                </a:cubicBezTo>
                <a:lnTo>
                  <a:pt x="95250" y="38100"/>
                </a:lnTo>
                <a:lnTo>
                  <a:pt x="171450" y="38100"/>
                </a:lnTo>
                <a:lnTo>
                  <a:pt x="171450" y="19050"/>
                </a:lnTo>
                <a:cubicBezTo>
                  <a:pt x="171450" y="8513"/>
                  <a:pt x="179963" y="0"/>
                  <a:pt x="190500" y="0"/>
                </a:cubicBezTo>
                <a:cubicBezTo>
                  <a:pt x="201037" y="0"/>
                  <a:pt x="209550" y="8513"/>
                  <a:pt x="209550" y="19050"/>
                </a:cubicBezTo>
                <a:lnTo>
                  <a:pt x="209550" y="38100"/>
                </a:lnTo>
                <a:lnTo>
                  <a:pt x="228600" y="38100"/>
                </a:lnTo>
                <a:cubicBezTo>
                  <a:pt x="249615" y="38100"/>
                  <a:pt x="266700" y="55185"/>
                  <a:pt x="266700" y="76200"/>
                </a:cubicBezTo>
                <a:lnTo>
                  <a:pt x="266700" y="247650"/>
                </a:lnTo>
                <a:cubicBezTo>
                  <a:pt x="266700" y="268665"/>
                  <a:pt x="249615" y="285750"/>
                  <a:pt x="228600" y="285750"/>
                </a:cubicBezTo>
                <a:lnTo>
                  <a:pt x="38100" y="285750"/>
                </a:lnTo>
                <a:cubicBezTo>
                  <a:pt x="17085" y="285750"/>
                  <a:pt x="0" y="268665"/>
                  <a:pt x="0" y="247650"/>
                </a:cubicBezTo>
                <a:lnTo>
                  <a:pt x="0" y="76200"/>
                </a:lnTo>
                <a:cubicBezTo>
                  <a:pt x="0" y="55185"/>
                  <a:pt x="17085" y="38100"/>
                  <a:pt x="38100" y="38100"/>
                </a:cubicBezTo>
                <a:lnTo>
                  <a:pt x="57150" y="38100"/>
                </a:lnTo>
                <a:lnTo>
                  <a:pt x="57150" y="19050"/>
                </a:lnTo>
                <a:cubicBezTo>
                  <a:pt x="57150" y="8513"/>
                  <a:pt x="65663" y="0"/>
                  <a:pt x="76200" y="0"/>
                </a:cubicBezTo>
                <a:close/>
                <a:moveTo>
                  <a:pt x="76200" y="152400"/>
                </a:moveTo>
                <a:cubicBezTo>
                  <a:pt x="65663" y="152400"/>
                  <a:pt x="57150" y="160913"/>
                  <a:pt x="57150" y="171450"/>
                </a:cubicBezTo>
                <a:lnTo>
                  <a:pt x="57150" y="209550"/>
                </a:lnTo>
                <a:cubicBezTo>
                  <a:pt x="57150" y="220087"/>
                  <a:pt x="65663" y="228600"/>
                  <a:pt x="76200" y="228600"/>
                </a:cubicBezTo>
                <a:lnTo>
                  <a:pt x="114300" y="228600"/>
                </a:lnTo>
                <a:cubicBezTo>
                  <a:pt x="124837" y="228600"/>
                  <a:pt x="133350" y="220087"/>
                  <a:pt x="133350" y="209550"/>
                </a:cubicBezTo>
                <a:lnTo>
                  <a:pt x="133350" y="171450"/>
                </a:lnTo>
                <a:cubicBezTo>
                  <a:pt x="133350" y="160913"/>
                  <a:pt x="124837" y="152400"/>
                  <a:pt x="114300" y="152400"/>
                </a:cubicBezTo>
                <a:lnTo>
                  <a:pt x="76200" y="152400"/>
                </a:lnTo>
                <a:close/>
              </a:path>
            </a:pathLst>
          </a:custGeom>
          <a:solidFill>
            <a:srgbClr val="E87A5D"/>
          </a:solidFill>
          <a:ln/>
        </p:spPr>
      </p:sp>
      <p:sp>
        <p:nvSpPr>
          <p:cNvPr id="17" name="Text 13"/>
          <p:cNvSpPr/>
          <p:nvPr/>
        </p:nvSpPr>
        <p:spPr>
          <a:xfrm>
            <a:off x="9080500" y="57404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0ED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Friday Leader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8636000" y="6223000"/>
            <a:ext cx="2921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8A8A9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Friday generates the highest weekly revenue, 23% above the daily average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12192000" y="5588000"/>
            <a:ext cx="3302000" cy="1752600"/>
          </a:xfrm>
          <a:prstGeom prst="rect">
            <a:avLst/>
          </a:prstGeom>
          <a:solidFill>
            <a:srgbClr val="1E1E26"/>
          </a:solidFill>
          <a:ln/>
        </p:spPr>
      </p:sp>
      <p:sp>
        <p:nvSpPr>
          <p:cNvPr id="20" name="Shape 16"/>
          <p:cNvSpPr/>
          <p:nvPr/>
        </p:nvSpPr>
        <p:spPr>
          <a:xfrm>
            <a:off x="12407900" y="57785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228600" y="19050"/>
                </a:moveTo>
                <a:lnTo>
                  <a:pt x="304800" y="19050"/>
                </a:lnTo>
                <a:cubicBezTo>
                  <a:pt x="315337" y="19050"/>
                  <a:pt x="323850" y="27563"/>
                  <a:pt x="323850" y="38100"/>
                </a:cubicBezTo>
                <a:cubicBezTo>
                  <a:pt x="323850" y="48637"/>
                  <a:pt x="315337" y="57150"/>
                  <a:pt x="304800" y="57150"/>
                </a:cubicBezTo>
                <a:lnTo>
                  <a:pt x="237173" y="57150"/>
                </a:lnTo>
                <a:cubicBezTo>
                  <a:pt x="234077" y="72509"/>
                  <a:pt x="223540" y="85189"/>
                  <a:pt x="209550" y="91261"/>
                </a:cubicBezTo>
                <a:lnTo>
                  <a:pt x="209550" y="266700"/>
                </a:lnTo>
                <a:lnTo>
                  <a:pt x="304800" y="266700"/>
                </a:lnTo>
                <a:cubicBezTo>
                  <a:pt x="315337" y="266700"/>
                  <a:pt x="323850" y="275213"/>
                  <a:pt x="323850" y="285750"/>
                </a:cubicBezTo>
                <a:cubicBezTo>
                  <a:pt x="323850" y="296287"/>
                  <a:pt x="315337" y="304800"/>
                  <a:pt x="304800" y="304800"/>
                </a:cubicBezTo>
                <a:lnTo>
                  <a:pt x="76200" y="304800"/>
                </a:lnTo>
                <a:cubicBezTo>
                  <a:pt x="65663" y="304800"/>
                  <a:pt x="57150" y="296287"/>
                  <a:pt x="57150" y="285750"/>
                </a:cubicBezTo>
                <a:cubicBezTo>
                  <a:pt x="57150" y="275213"/>
                  <a:pt x="65663" y="266700"/>
                  <a:pt x="76200" y="266700"/>
                </a:cubicBezTo>
                <a:lnTo>
                  <a:pt x="171450" y="266700"/>
                </a:lnTo>
                <a:lnTo>
                  <a:pt x="171450" y="91261"/>
                </a:lnTo>
                <a:cubicBezTo>
                  <a:pt x="157460" y="85130"/>
                  <a:pt x="146923" y="72450"/>
                  <a:pt x="143828" y="57150"/>
                </a:cubicBezTo>
                <a:lnTo>
                  <a:pt x="76200" y="57150"/>
                </a:lnTo>
                <a:cubicBezTo>
                  <a:pt x="65663" y="57150"/>
                  <a:pt x="57150" y="48637"/>
                  <a:pt x="57150" y="38100"/>
                </a:cubicBezTo>
                <a:cubicBezTo>
                  <a:pt x="57150" y="27563"/>
                  <a:pt x="65663" y="19050"/>
                  <a:pt x="76200" y="19050"/>
                </a:cubicBezTo>
                <a:lnTo>
                  <a:pt x="152400" y="19050"/>
                </a:lnTo>
                <a:cubicBezTo>
                  <a:pt x="161092" y="7501"/>
                  <a:pt x="174903" y="0"/>
                  <a:pt x="190500" y="0"/>
                </a:cubicBezTo>
                <a:cubicBezTo>
                  <a:pt x="206097" y="0"/>
                  <a:pt x="219908" y="7501"/>
                  <a:pt x="228600" y="19050"/>
                </a:cubicBezTo>
                <a:close/>
                <a:moveTo>
                  <a:pt x="261699" y="190500"/>
                </a:moveTo>
                <a:lnTo>
                  <a:pt x="347901" y="190500"/>
                </a:lnTo>
                <a:lnTo>
                  <a:pt x="304800" y="116562"/>
                </a:lnTo>
                <a:lnTo>
                  <a:pt x="261699" y="190500"/>
                </a:lnTo>
                <a:close/>
                <a:moveTo>
                  <a:pt x="304800" y="247650"/>
                </a:moveTo>
                <a:cubicBezTo>
                  <a:pt x="267355" y="247650"/>
                  <a:pt x="236220" y="227409"/>
                  <a:pt x="229791" y="200680"/>
                </a:cubicBezTo>
                <a:cubicBezTo>
                  <a:pt x="228243" y="194131"/>
                  <a:pt x="230386" y="187404"/>
                  <a:pt x="233779" y="181570"/>
                </a:cubicBezTo>
                <a:lnTo>
                  <a:pt x="290453" y="84415"/>
                </a:lnTo>
                <a:cubicBezTo>
                  <a:pt x="293430" y="79296"/>
                  <a:pt x="298906" y="76200"/>
                  <a:pt x="304800" y="76200"/>
                </a:cubicBezTo>
                <a:cubicBezTo>
                  <a:pt x="310694" y="76200"/>
                  <a:pt x="316170" y="79355"/>
                  <a:pt x="319147" y="84415"/>
                </a:cubicBezTo>
                <a:lnTo>
                  <a:pt x="375821" y="181570"/>
                </a:lnTo>
                <a:cubicBezTo>
                  <a:pt x="379214" y="187404"/>
                  <a:pt x="381357" y="194131"/>
                  <a:pt x="379809" y="200680"/>
                </a:cubicBezTo>
                <a:cubicBezTo>
                  <a:pt x="373380" y="227350"/>
                  <a:pt x="342245" y="247650"/>
                  <a:pt x="304800" y="247650"/>
                </a:cubicBezTo>
                <a:close/>
                <a:moveTo>
                  <a:pt x="75486" y="116562"/>
                </a:moveTo>
                <a:lnTo>
                  <a:pt x="32385" y="190500"/>
                </a:lnTo>
                <a:lnTo>
                  <a:pt x="118646" y="190500"/>
                </a:lnTo>
                <a:lnTo>
                  <a:pt x="75486" y="116562"/>
                </a:lnTo>
                <a:close/>
                <a:moveTo>
                  <a:pt x="536" y="200680"/>
                </a:moveTo>
                <a:cubicBezTo>
                  <a:pt x="-1012" y="194131"/>
                  <a:pt x="1131" y="187404"/>
                  <a:pt x="4524" y="181570"/>
                </a:cubicBezTo>
                <a:lnTo>
                  <a:pt x="61198" y="84415"/>
                </a:lnTo>
                <a:cubicBezTo>
                  <a:pt x="64175" y="79296"/>
                  <a:pt x="69652" y="76200"/>
                  <a:pt x="75545" y="76200"/>
                </a:cubicBezTo>
                <a:cubicBezTo>
                  <a:pt x="81439" y="76200"/>
                  <a:pt x="86916" y="79355"/>
                  <a:pt x="89892" y="84415"/>
                </a:cubicBezTo>
                <a:lnTo>
                  <a:pt x="146566" y="181570"/>
                </a:lnTo>
                <a:cubicBezTo>
                  <a:pt x="149959" y="187404"/>
                  <a:pt x="152102" y="194131"/>
                  <a:pt x="150555" y="200680"/>
                </a:cubicBezTo>
                <a:cubicBezTo>
                  <a:pt x="144125" y="227350"/>
                  <a:pt x="112990" y="247650"/>
                  <a:pt x="75545" y="247650"/>
                </a:cubicBezTo>
                <a:cubicBezTo>
                  <a:pt x="38100" y="247650"/>
                  <a:pt x="6965" y="227409"/>
                  <a:pt x="536" y="200680"/>
                </a:cubicBezTo>
                <a:close/>
              </a:path>
            </a:pathLst>
          </a:custGeom>
          <a:solidFill>
            <a:srgbClr val="D4A03A"/>
          </a:solidFill>
          <a:ln/>
        </p:spPr>
      </p:sp>
      <p:sp>
        <p:nvSpPr>
          <p:cNvPr id="21" name="Text 17"/>
          <p:cNvSpPr/>
          <p:nvPr/>
        </p:nvSpPr>
        <p:spPr>
          <a:xfrm>
            <a:off x="12890500" y="5740400"/>
            <a:ext cx="241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0ED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Balanced Split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12446000" y="6223000"/>
            <a:ext cx="2794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8A8A9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Revenue is evenly distributed across all 4 categories, ranging from 23.6% to 26.9%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14986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8A8A9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D4A03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D4A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Insights &amp; Impact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41400"/>
            <a:ext cx="14732000" cy="12700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270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D4A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FINDINGS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62000" y="1778000"/>
            <a:ext cx="7048500" cy="1143000"/>
          </a:xfrm>
          <a:prstGeom prst="rect">
            <a:avLst/>
          </a:prstGeom>
          <a:solidFill>
            <a:srgbClr val="1E1E26"/>
          </a:solidFill>
          <a:ln/>
        </p:spPr>
      </p:sp>
      <p:sp>
        <p:nvSpPr>
          <p:cNvPr id="7" name="Shape 5"/>
          <p:cNvSpPr/>
          <p:nvPr/>
        </p:nvSpPr>
        <p:spPr>
          <a:xfrm>
            <a:off x="1016000" y="2032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00221" y="0"/>
                </a:moveTo>
                <a:lnTo>
                  <a:pt x="255796" y="0"/>
                </a:lnTo>
                <a:cubicBezTo>
                  <a:pt x="274201" y="0"/>
                  <a:pt x="289203" y="15141"/>
                  <a:pt x="288508" y="33476"/>
                </a:cubicBezTo>
                <a:cubicBezTo>
                  <a:pt x="288369" y="37157"/>
                  <a:pt x="288230" y="40838"/>
                  <a:pt x="288022" y="44450"/>
                </a:cubicBezTo>
                <a:lnTo>
                  <a:pt x="322471" y="44450"/>
                </a:lnTo>
                <a:cubicBezTo>
                  <a:pt x="340598" y="44450"/>
                  <a:pt x="356572" y="59452"/>
                  <a:pt x="355183" y="79038"/>
                </a:cubicBezTo>
                <a:cubicBezTo>
                  <a:pt x="349974" y="151061"/>
                  <a:pt x="313164" y="190649"/>
                  <a:pt x="273229" y="211346"/>
                </a:cubicBezTo>
                <a:cubicBezTo>
                  <a:pt x="262255" y="217041"/>
                  <a:pt x="251073" y="221278"/>
                  <a:pt x="240447" y="224403"/>
                </a:cubicBezTo>
                <a:cubicBezTo>
                  <a:pt x="226417" y="244267"/>
                  <a:pt x="211832" y="254754"/>
                  <a:pt x="200233" y="260380"/>
                </a:cubicBezTo>
                <a:lnTo>
                  <a:pt x="200233" y="311150"/>
                </a:lnTo>
                <a:lnTo>
                  <a:pt x="244683" y="311150"/>
                </a:lnTo>
                <a:cubicBezTo>
                  <a:pt x="256977" y="311150"/>
                  <a:pt x="266908" y="321082"/>
                  <a:pt x="266908" y="333375"/>
                </a:cubicBezTo>
                <a:cubicBezTo>
                  <a:pt x="266908" y="345668"/>
                  <a:pt x="256977" y="355600"/>
                  <a:pt x="244683" y="355600"/>
                </a:cubicBezTo>
                <a:lnTo>
                  <a:pt x="111333" y="355600"/>
                </a:lnTo>
                <a:cubicBezTo>
                  <a:pt x="99040" y="355600"/>
                  <a:pt x="89108" y="345668"/>
                  <a:pt x="89108" y="333375"/>
                </a:cubicBezTo>
                <a:cubicBezTo>
                  <a:pt x="89108" y="321082"/>
                  <a:pt x="99040" y="311150"/>
                  <a:pt x="111333" y="311150"/>
                </a:cubicBezTo>
                <a:lnTo>
                  <a:pt x="155783" y="311150"/>
                </a:lnTo>
                <a:lnTo>
                  <a:pt x="155783" y="260380"/>
                </a:lnTo>
                <a:cubicBezTo>
                  <a:pt x="144671" y="255032"/>
                  <a:pt x="130850" y="245100"/>
                  <a:pt x="117376" y="226834"/>
                </a:cubicBezTo>
                <a:cubicBezTo>
                  <a:pt x="104596" y="223500"/>
                  <a:pt x="90706" y="218430"/>
                  <a:pt x="77162" y="210790"/>
                </a:cubicBezTo>
                <a:cubicBezTo>
                  <a:pt x="39588" y="189746"/>
                  <a:pt x="5695" y="150088"/>
                  <a:pt x="833" y="78899"/>
                </a:cubicBezTo>
                <a:cubicBezTo>
                  <a:pt x="-486" y="59382"/>
                  <a:pt x="15419" y="44381"/>
                  <a:pt x="33546" y="44381"/>
                </a:cubicBezTo>
                <a:lnTo>
                  <a:pt x="67995" y="44381"/>
                </a:lnTo>
                <a:cubicBezTo>
                  <a:pt x="67786" y="40769"/>
                  <a:pt x="67647" y="37157"/>
                  <a:pt x="67508" y="33407"/>
                </a:cubicBezTo>
                <a:cubicBezTo>
                  <a:pt x="66814" y="15002"/>
                  <a:pt x="81816" y="-69"/>
                  <a:pt x="100221" y="-69"/>
                </a:cubicBezTo>
                <a:close/>
                <a:moveTo>
                  <a:pt x="70495" y="77788"/>
                </a:moveTo>
                <a:lnTo>
                  <a:pt x="34101" y="77788"/>
                </a:lnTo>
                <a:cubicBezTo>
                  <a:pt x="38408" y="136614"/>
                  <a:pt x="65425" y="166062"/>
                  <a:pt x="93276" y="181689"/>
                </a:cubicBezTo>
                <a:cubicBezTo>
                  <a:pt x="83274" y="155783"/>
                  <a:pt x="75009" y="121960"/>
                  <a:pt x="70495" y="77788"/>
                </a:cubicBezTo>
                <a:close/>
                <a:moveTo>
                  <a:pt x="263922" y="178356"/>
                </a:moveTo>
                <a:cubicBezTo>
                  <a:pt x="292050" y="161826"/>
                  <a:pt x="317470" y="132447"/>
                  <a:pt x="321776" y="77788"/>
                </a:cubicBezTo>
                <a:lnTo>
                  <a:pt x="285452" y="77788"/>
                </a:lnTo>
                <a:cubicBezTo>
                  <a:pt x="281146" y="120084"/>
                  <a:pt x="273368" y="152936"/>
                  <a:pt x="263922" y="178356"/>
                </a:cubicBezTo>
                <a:close/>
              </a:path>
            </a:pathLst>
          </a:custGeom>
          <a:solidFill>
            <a:srgbClr val="D4A03A"/>
          </a:solidFill>
          <a:ln/>
        </p:spPr>
      </p:sp>
      <p:sp>
        <p:nvSpPr>
          <p:cNvPr id="8" name="Text 6"/>
          <p:cNvSpPr/>
          <p:nvPr/>
        </p:nvSpPr>
        <p:spPr>
          <a:xfrm>
            <a:off x="1524000" y="1879600"/>
            <a:ext cx="609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0EDE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Chicken category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0EDE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drives the highest per-unit revenue among all pizza types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62000" y="3175000"/>
            <a:ext cx="7048500" cy="1143000"/>
          </a:xfrm>
          <a:prstGeom prst="rect">
            <a:avLst/>
          </a:prstGeom>
          <a:solidFill>
            <a:srgbClr val="1E1E26"/>
          </a:solidFill>
          <a:ln/>
        </p:spPr>
      </p:sp>
      <p:sp>
        <p:nvSpPr>
          <p:cNvPr id="10" name="Shape 8"/>
          <p:cNvSpPr/>
          <p:nvPr/>
        </p:nvSpPr>
        <p:spPr>
          <a:xfrm>
            <a:off x="1038225" y="3429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2225" y="22225"/>
                </a:moveTo>
                <a:cubicBezTo>
                  <a:pt x="9932" y="22225"/>
                  <a:pt x="0" y="32157"/>
                  <a:pt x="0" y="44450"/>
                </a:cubicBezTo>
                <a:lnTo>
                  <a:pt x="0" y="111125"/>
                </a:lnTo>
                <a:cubicBezTo>
                  <a:pt x="0" y="123418"/>
                  <a:pt x="9932" y="133350"/>
                  <a:pt x="22225" y="133350"/>
                </a:cubicBezTo>
                <a:cubicBezTo>
                  <a:pt x="34518" y="133350"/>
                  <a:pt x="44450" y="123418"/>
                  <a:pt x="44450" y="111125"/>
                </a:cubicBezTo>
                <a:lnTo>
                  <a:pt x="44450" y="66675"/>
                </a:lnTo>
                <a:lnTo>
                  <a:pt x="88900" y="66675"/>
                </a:lnTo>
                <a:cubicBezTo>
                  <a:pt x="101193" y="66675"/>
                  <a:pt x="111125" y="56743"/>
                  <a:pt x="111125" y="44450"/>
                </a:cubicBezTo>
                <a:cubicBezTo>
                  <a:pt x="111125" y="32157"/>
                  <a:pt x="101193" y="22225"/>
                  <a:pt x="88900" y="22225"/>
                </a:cubicBezTo>
                <a:lnTo>
                  <a:pt x="22225" y="22225"/>
                </a:lnTo>
                <a:close/>
                <a:moveTo>
                  <a:pt x="44450" y="244475"/>
                </a:moveTo>
                <a:cubicBezTo>
                  <a:pt x="44450" y="232182"/>
                  <a:pt x="34518" y="222250"/>
                  <a:pt x="22225" y="222250"/>
                </a:cubicBezTo>
                <a:cubicBezTo>
                  <a:pt x="9932" y="222250"/>
                  <a:pt x="0" y="232182"/>
                  <a:pt x="0" y="244475"/>
                </a:cubicBezTo>
                <a:lnTo>
                  <a:pt x="0" y="311150"/>
                </a:lnTo>
                <a:cubicBezTo>
                  <a:pt x="0" y="323443"/>
                  <a:pt x="9932" y="333375"/>
                  <a:pt x="22225" y="333375"/>
                </a:cubicBezTo>
                <a:lnTo>
                  <a:pt x="88900" y="333375"/>
                </a:lnTo>
                <a:cubicBezTo>
                  <a:pt x="101193" y="333375"/>
                  <a:pt x="111125" y="323443"/>
                  <a:pt x="111125" y="311150"/>
                </a:cubicBezTo>
                <a:cubicBezTo>
                  <a:pt x="111125" y="298857"/>
                  <a:pt x="101193" y="288925"/>
                  <a:pt x="88900" y="288925"/>
                </a:cubicBezTo>
                <a:lnTo>
                  <a:pt x="44450" y="288925"/>
                </a:lnTo>
                <a:lnTo>
                  <a:pt x="44450" y="244475"/>
                </a:lnTo>
                <a:close/>
                <a:moveTo>
                  <a:pt x="222250" y="22225"/>
                </a:moveTo>
                <a:cubicBezTo>
                  <a:pt x="209957" y="22225"/>
                  <a:pt x="200025" y="32157"/>
                  <a:pt x="200025" y="44450"/>
                </a:cubicBezTo>
                <a:cubicBezTo>
                  <a:pt x="200025" y="56743"/>
                  <a:pt x="209957" y="66675"/>
                  <a:pt x="222250" y="66675"/>
                </a:cubicBezTo>
                <a:lnTo>
                  <a:pt x="266700" y="66675"/>
                </a:lnTo>
                <a:lnTo>
                  <a:pt x="266700" y="111125"/>
                </a:lnTo>
                <a:cubicBezTo>
                  <a:pt x="266700" y="123418"/>
                  <a:pt x="276632" y="133350"/>
                  <a:pt x="288925" y="133350"/>
                </a:cubicBezTo>
                <a:cubicBezTo>
                  <a:pt x="301218" y="133350"/>
                  <a:pt x="311150" y="123418"/>
                  <a:pt x="311150" y="111125"/>
                </a:cubicBezTo>
                <a:lnTo>
                  <a:pt x="311150" y="44450"/>
                </a:lnTo>
                <a:cubicBezTo>
                  <a:pt x="311150" y="32157"/>
                  <a:pt x="301218" y="22225"/>
                  <a:pt x="288925" y="22225"/>
                </a:cubicBezTo>
                <a:lnTo>
                  <a:pt x="222250" y="22225"/>
                </a:lnTo>
                <a:close/>
                <a:moveTo>
                  <a:pt x="311150" y="244475"/>
                </a:moveTo>
                <a:cubicBezTo>
                  <a:pt x="311150" y="232182"/>
                  <a:pt x="301218" y="222250"/>
                  <a:pt x="288925" y="222250"/>
                </a:cubicBezTo>
                <a:cubicBezTo>
                  <a:pt x="276632" y="222250"/>
                  <a:pt x="266700" y="232182"/>
                  <a:pt x="266700" y="244475"/>
                </a:cubicBezTo>
                <a:lnTo>
                  <a:pt x="266700" y="288925"/>
                </a:lnTo>
                <a:lnTo>
                  <a:pt x="222250" y="288925"/>
                </a:lnTo>
                <a:cubicBezTo>
                  <a:pt x="209957" y="288925"/>
                  <a:pt x="200025" y="298857"/>
                  <a:pt x="200025" y="311150"/>
                </a:cubicBezTo>
                <a:cubicBezTo>
                  <a:pt x="200025" y="323443"/>
                  <a:pt x="209957" y="333375"/>
                  <a:pt x="222250" y="333375"/>
                </a:cubicBezTo>
                <a:lnTo>
                  <a:pt x="288925" y="333375"/>
                </a:lnTo>
                <a:cubicBezTo>
                  <a:pt x="301218" y="333375"/>
                  <a:pt x="311150" y="323443"/>
                  <a:pt x="311150" y="311150"/>
                </a:cubicBezTo>
                <a:lnTo>
                  <a:pt x="311150" y="244475"/>
                </a:lnTo>
                <a:close/>
              </a:path>
            </a:pathLst>
          </a:custGeom>
          <a:solidFill>
            <a:srgbClr val="E87A5D"/>
          </a:solidFill>
          <a:ln/>
        </p:spPr>
      </p:sp>
      <p:sp>
        <p:nvSpPr>
          <p:cNvPr id="11" name="Text 9"/>
          <p:cNvSpPr/>
          <p:nvPr/>
        </p:nvSpPr>
        <p:spPr>
          <a:xfrm>
            <a:off x="1524000" y="3276600"/>
            <a:ext cx="609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0EDE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Large-size pizzas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0EDE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account for 45.9% of all orders — top inventory priority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4572000"/>
            <a:ext cx="7048500" cy="1143000"/>
          </a:xfrm>
          <a:prstGeom prst="rect">
            <a:avLst/>
          </a:prstGeom>
          <a:solidFill>
            <a:srgbClr val="1E1E26"/>
          </a:solidFill>
          <a:ln/>
        </p:spPr>
      </p:sp>
      <p:sp>
        <p:nvSpPr>
          <p:cNvPr id="13" name="Shape 11"/>
          <p:cNvSpPr/>
          <p:nvPr/>
        </p:nvSpPr>
        <p:spPr>
          <a:xfrm>
            <a:off x="971550" y="48260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222250" y="11112"/>
                </a:moveTo>
                <a:cubicBezTo>
                  <a:pt x="262116" y="11112"/>
                  <a:pt x="294481" y="43478"/>
                  <a:pt x="294481" y="83344"/>
                </a:cubicBezTo>
                <a:cubicBezTo>
                  <a:pt x="294481" y="123209"/>
                  <a:pt x="262116" y="155575"/>
                  <a:pt x="222250" y="155575"/>
                </a:cubicBezTo>
                <a:cubicBezTo>
                  <a:pt x="182384" y="155575"/>
                  <a:pt x="150019" y="123209"/>
                  <a:pt x="150019" y="83344"/>
                </a:cubicBezTo>
                <a:cubicBezTo>
                  <a:pt x="150019" y="43478"/>
                  <a:pt x="182384" y="11113"/>
                  <a:pt x="222250" y="11112"/>
                </a:cubicBezTo>
                <a:close/>
                <a:moveTo>
                  <a:pt x="66675" y="61119"/>
                </a:moveTo>
                <a:cubicBezTo>
                  <a:pt x="94274" y="61119"/>
                  <a:pt x="116681" y="83526"/>
                  <a:pt x="116681" y="111125"/>
                </a:cubicBezTo>
                <a:cubicBezTo>
                  <a:pt x="116681" y="138724"/>
                  <a:pt x="94274" y="161131"/>
                  <a:pt x="66675" y="161131"/>
                </a:cubicBezTo>
                <a:cubicBezTo>
                  <a:pt x="39076" y="161131"/>
                  <a:pt x="16669" y="138724"/>
                  <a:pt x="16669" y="111125"/>
                </a:cubicBezTo>
                <a:cubicBezTo>
                  <a:pt x="16669" y="83526"/>
                  <a:pt x="39076" y="61119"/>
                  <a:pt x="66675" y="61119"/>
                </a:cubicBezTo>
                <a:close/>
                <a:moveTo>
                  <a:pt x="0" y="288925"/>
                </a:moveTo>
                <a:cubicBezTo>
                  <a:pt x="0" y="239822"/>
                  <a:pt x="39797" y="200025"/>
                  <a:pt x="88900" y="200025"/>
                </a:cubicBezTo>
                <a:cubicBezTo>
                  <a:pt x="97790" y="200025"/>
                  <a:pt x="106402" y="201345"/>
                  <a:pt x="114528" y="203775"/>
                </a:cubicBezTo>
                <a:cubicBezTo>
                  <a:pt x="91678" y="229334"/>
                  <a:pt x="77788" y="263088"/>
                  <a:pt x="77788" y="300038"/>
                </a:cubicBezTo>
                <a:lnTo>
                  <a:pt x="77788" y="311150"/>
                </a:lnTo>
                <a:cubicBezTo>
                  <a:pt x="77788" y="319068"/>
                  <a:pt x="79454" y="326569"/>
                  <a:pt x="82441" y="333375"/>
                </a:cubicBezTo>
                <a:lnTo>
                  <a:pt x="22225" y="333375"/>
                </a:lnTo>
                <a:cubicBezTo>
                  <a:pt x="9932" y="333375"/>
                  <a:pt x="0" y="323443"/>
                  <a:pt x="0" y="311150"/>
                </a:cubicBezTo>
                <a:lnTo>
                  <a:pt x="0" y="288925"/>
                </a:lnTo>
                <a:close/>
                <a:moveTo>
                  <a:pt x="362059" y="333375"/>
                </a:moveTo>
                <a:cubicBezTo>
                  <a:pt x="365046" y="326569"/>
                  <a:pt x="366712" y="319068"/>
                  <a:pt x="366712" y="311150"/>
                </a:cubicBezTo>
                <a:lnTo>
                  <a:pt x="366712" y="300038"/>
                </a:lnTo>
                <a:cubicBezTo>
                  <a:pt x="366712" y="263088"/>
                  <a:pt x="352822" y="229334"/>
                  <a:pt x="329972" y="203775"/>
                </a:cubicBezTo>
                <a:cubicBezTo>
                  <a:pt x="338098" y="201345"/>
                  <a:pt x="346710" y="200025"/>
                  <a:pt x="355600" y="200025"/>
                </a:cubicBezTo>
                <a:cubicBezTo>
                  <a:pt x="404703" y="200025"/>
                  <a:pt x="444500" y="239822"/>
                  <a:pt x="444500" y="288925"/>
                </a:cubicBezTo>
                <a:lnTo>
                  <a:pt x="444500" y="311150"/>
                </a:lnTo>
                <a:cubicBezTo>
                  <a:pt x="444500" y="323443"/>
                  <a:pt x="434568" y="333375"/>
                  <a:pt x="422275" y="333375"/>
                </a:cubicBezTo>
                <a:lnTo>
                  <a:pt x="362059" y="333375"/>
                </a:lnTo>
                <a:close/>
                <a:moveTo>
                  <a:pt x="327819" y="111125"/>
                </a:moveTo>
                <a:cubicBezTo>
                  <a:pt x="327819" y="83526"/>
                  <a:pt x="350226" y="61119"/>
                  <a:pt x="377825" y="61119"/>
                </a:cubicBezTo>
                <a:cubicBezTo>
                  <a:pt x="405424" y="61119"/>
                  <a:pt x="427831" y="83526"/>
                  <a:pt x="427831" y="111125"/>
                </a:cubicBezTo>
                <a:cubicBezTo>
                  <a:pt x="427831" y="138724"/>
                  <a:pt x="405424" y="161131"/>
                  <a:pt x="377825" y="161131"/>
                </a:cubicBezTo>
                <a:cubicBezTo>
                  <a:pt x="350226" y="161131"/>
                  <a:pt x="327819" y="138724"/>
                  <a:pt x="327819" y="111125"/>
                </a:cubicBezTo>
                <a:close/>
                <a:moveTo>
                  <a:pt x="111125" y="300038"/>
                </a:moveTo>
                <a:cubicBezTo>
                  <a:pt x="111125" y="238641"/>
                  <a:pt x="160853" y="188913"/>
                  <a:pt x="222250" y="188913"/>
                </a:cubicBezTo>
                <a:cubicBezTo>
                  <a:pt x="283647" y="188913"/>
                  <a:pt x="333375" y="238641"/>
                  <a:pt x="333375" y="300038"/>
                </a:cubicBezTo>
                <a:lnTo>
                  <a:pt x="333375" y="311150"/>
                </a:lnTo>
                <a:cubicBezTo>
                  <a:pt x="333375" y="323443"/>
                  <a:pt x="323443" y="333375"/>
                  <a:pt x="311150" y="333375"/>
                </a:cubicBezTo>
                <a:lnTo>
                  <a:pt x="133350" y="333375"/>
                </a:lnTo>
                <a:cubicBezTo>
                  <a:pt x="121057" y="333375"/>
                  <a:pt x="111125" y="323443"/>
                  <a:pt x="111125" y="311150"/>
                </a:cubicBezTo>
                <a:lnTo>
                  <a:pt x="111125" y="300038"/>
                </a:lnTo>
                <a:close/>
              </a:path>
            </a:pathLst>
          </a:custGeom>
          <a:solidFill>
            <a:srgbClr val="6B9BD1"/>
          </a:solidFill>
          <a:ln/>
        </p:spPr>
      </p:sp>
      <p:sp>
        <p:nvSpPr>
          <p:cNvPr id="14" name="Text 12"/>
          <p:cNvSpPr/>
          <p:nvPr/>
        </p:nvSpPr>
        <p:spPr>
          <a:xfrm>
            <a:off x="1524000" y="4673600"/>
            <a:ext cx="609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0EDE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Peak hours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0EDE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(12-1 PM, 5-7 PM) need optimized staffing for demand surges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62000" y="5969000"/>
            <a:ext cx="7048500" cy="1143000"/>
          </a:xfrm>
          <a:prstGeom prst="rect">
            <a:avLst/>
          </a:prstGeom>
          <a:solidFill>
            <a:srgbClr val="1E1E26"/>
          </a:solidFill>
          <a:ln/>
        </p:spPr>
      </p:sp>
      <p:sp>
        <p:nvSpPr>
          <p:cNvPr id="16" name="Shape 14"/>
          <p:cNvSpPr/>
          <p:nvPr/>
        </p:nvSpPr>
        <p:spPr>
          <a:xfrm>
            <a:off x="971550" y="62230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16669" y="-11112"/>
                </a:moveTo>
                <a:cubicBezTo>
                  <a:pt x="7431" y="-11112"/>
                  <a:pt x="0" y="-3681"/>
                  <a:pt x="0" y="5556"/>
                </a:cubicBezTo>
                <a:cubicBezTo>
                  <a:pt x="0" y="14794"/>
                  <a:pt x="7431" y="22225"/>
                  <a:pt x="16669" y="22225"/>
                </a:cubicBezTo>
                <a:lnTo>
                  <a:pt x="48131" y="22225"/>
                </a:lnTo>
                <a:cubicBezTo>
                  <a:pt x="50840" y="22225"/>
                  <a:pt x="53132" y="24170"/>
                  <a:pt x="53618" y="26809"/>
                </a:cubicBezTo>
                <a:lnTo>
                  <a:pt x="89803" y="225653"/>
                </a:lnTo>
                <a:cubicBezTo>
                  <a:pt x="94109" y="249406"/>
                  <a:pt x="114806" y="266700"/>
                  <a:pt x="138976" y="266700"/>
                </a:cubicBezTo>
                <a:lnTo>
                  <a:pt x="316706" y="266700"/>
                </a:lnTo>
                <a:cubicBezTo>
                  <a:pt x="325944" y="266700"/>
                  <a:pt x="333375" y="259269"/>
                  <a:pt x="333375" y="250031"/>
                </a:cubicBezTo>
                <a:cubicBezTo>
                  <a:pt x="333375" y="240794"/>
                  <a:pt x="325944" y="233363"/>
                  <a:pt x="316706" y="233363"/>
                </a:cubicBezTo>
                <a:lnTo>
                  <a:pt x="138976" y="233363"/>
                </a:lnTo>
                <a:cubicBezTo>
                  <a:pt x="130919" y="233363"/>
                  <a:pt x="124043" y="227598"/>
                  <a:pt x="122585" y="219680"/>
                </a:cubicBezTo>
                <a:lnTo>
                  <a:pt x="119043" y="200025"/>
                </a:lnTo>
                <a:lnTo>
                  <a:pt x="329902" y="200025"/>
                </a:lnTo>
                <a:cubicBezTo>
                  <a:pt x="351294" y="200025"/>
                  <a:pt x="369630" y="184815"/>
                  <a:pt x="373588" y="163770"/>
                </a:cubicBezTo>
                <a:lnTo>
                  <a:pt x="395119" y="48548"/>
                </a:lnTo>
                <a:cubicBezTo>
                  <a:pt x="397689" y="34865"/>
                  <a:pt x="387201" y="22225"/>
                  <a:pt x="373241" y="22225"/>
                </a:cubicBezTo>
                <a:lnTo>
                  <a:pt x="86608" y="22225"/>
                </a:lnTo>
                <a:lnTo>
                  <a:pt x="86330" y="20836"/>
                </a:lnTo>
                <a:cubicBezTo>
                  <a:pt x="82996" y="2361"/>
                  <a:pt x="66883" y="-11112"/>
                  <a:pt x="48062" y="-11112"/>
                </a:cubicBezTo>
                <a:lnTo>
                  <a:pt x="16669" y="-11112"/>
                </a:lnTo>
                <a:close/>
                <a:moveTo>
                  <a:pt x="144463" y="355600"/>
                </a:moveTo>
                <a:cubicBezTo>
                  <a:pt x="162862" y="355600"/>
                  <a:pt x="177800" y="340662"/>
                  <a:pt x="177800" y="322263"/>
                </a:cubicBezTo>
                <a:cubicBezTo>
                  <a:pt x="177800" y="303863"/>
                  <a:pt x="162862" y="288925"/>
                  <a:pt x="144463" y="288925"/>
                </a:cubicBezTo>
                <a:cubicBezTo>
                  <a:pt x="126063" y="288925"/>
                  <a:pt x="111125" y="303863"/>
                  <a:pt x="111125" y="322263"/>
                </a:cubicBezTo>
                <a:cubicBezTo>
                  <a:pt x="111125" y="340662"/>
                  <a:pt x="126063" y="355600"/>
                  <a:pt x="144463" y="355600"/>
                </a:cubicBezTo>
                <a:close/>
                <a:moveTo>
                  <a:pt x="300038" y="355600"/>
                </a:moveTo>
                <a:cubicBezTo>
                  <a:pt x="318437" y="355600"/>
                  <a:pt x="333375" y="340662"/>
                  <a:pt x="333375" y="322263"/>
                </a:cubicBezTo>
                <a:cubicBezTo>
                  <a:pt x="333375" y="303863"/>
                  <a:pt x="318437" y="288925"/>
                  <a:pt x="300038" y="288925"/>
                </a:cubicBezTo>
                <a:cubicBezTo>
                  <a:pt x="281638" y="288925"/>
                  <a:pt x="266700" y="303863"/>
                  <a:pt x="266700" y="322263"/>
                </a:cubicBezTo>
                <a:cubicBezTo>
                  <a:pt x="266700" y="340662"/>
                  <a:pt x="281638" y="355600"/>
                  <a:pt x="300038" y="355600"/>
                </a:cubicBezTo>
                <a:close/>
              </a:path>
            </a:pathLst>
          </a:custGeom>
          <a:solidFill>
            <a:srgbClr val="5DBE8A"/>
          </a:solidFill>
          <a:ln/>
        </p:spPr>
      </p:sp>
      <p:sp>
        <p:nvSpPr>
          <p:cNvPr id="17" name="Text 15"/>
          <p:cNvSpPr/>
          <p:nvPr/>
        </p:nvSpPr>
        <p:spPr>
          <a:xfrm>
            <a:off x="1524000" y="6070600"/>
            <a:ext cx="609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0EDE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Classic category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0EDE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has highest order volume but lower per-order value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45500" y="1270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D4A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8445500" y="1778000"/>
            <a:ext cx="7048500" cy="1143000"/>
          </a:xfrm>
          <a:prstGeom prst="rect">
            <a:avLst/>
          </a:prstGeom>
          <a:solidFill>
            <a:srgbClr val="1E1E26"/>
          </a:solidFill>
          <a:ln/>
        </p:spPr>
      </p:sp>
      <p:sp>
        <p:nvSpPr>
          <p:cNvPr id="20" name="Text 18"/>
          <p:cNvSpPr/>
          <p:nvPr/>
        </p:nvSpPr>
        <p:spPr>
          <a:xfrm>
            <a:off x="8636000" y="1968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D4A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207500" y="1879600"/>
            <a:ext cx="609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0EDE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Promote chicken specialty pizzas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0EDE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 marketing campaigns to maximize revenue per order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445500" y="3175000"/>
            <a:ext cx="7048500" cy="1143000"/>
          </a:xfrm>
          <a:prstGeom prst="rect">
            <a:avLst/>
          </a:prstGeom>
          <a:solidFill>
            <a:srgbClr val="1E1E26"/>
          </a:solidFill>
          <a:ln/>
        </p:spPr>
      </p:sp>
      <p:sp>
        <p:nvSpPr>
          <p:cNvPr id="23" name="Text 21"/>
          <p:cNvSpPr/>
          <p:nvPr/>
        </p:nvSpPr>
        <p:spPr>
          <a:xfrm>
            <a:off x="8636000" y="3365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D4A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207500" y="3276600"/>
            <a:ext cx="609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0EDE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Optimize large pizza inventory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0EDE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ensure sufficient dough and toppings during peak periods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445500" y="4572000"/>
            <a:ext cx="7048500" cy="1143000"/>
          </a:xfrm>
          <a:prstGeom prst="rect">
            <a:avLst/>
          </a:prstGeom>
          <a:solidFill>
            <a:srgbClr val="1E1E26"/>
          </a:solidFill>
          <a:ln/>
        </p:spPr>
      </p:sp>
      <p:sp>
        <p:nvSpPr>
          <p:cNvPr id="26" name="Text 24"/>
          <p:cNvSpPr/>
          <p:nvPr/>
        </p:nvSpPr>
        <p:spPr>
          <a:xfrm>
            <a:off x="8636000" y="4762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D4A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207500" y="4673600"/>
            <a:ext cx="609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0EDE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Staff up during peak hours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0EDE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(12-1 PM, 5-7 PM) to reduce wait times and capture demand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8445500" y="5969000"/>
            <a:ext cx="7048500" cy="1143000"/>
          </a:xfrm>
          <a:prstGeom prst="rect">
            <a:avLst/>
          </a:prstGeom>
          <a:solidFill>
            <a:srgbClr val="1E1E26"/>
          </a:solidFill>
          <a:ln/>
        </p:spPr>
      </p:sp>
      <p:sp>
        <p:nvSpPr>
          <p:cNvPr id="29" name="Text 27"/>
          <p:cNvSpPr/>
          <p:nvPr/>
        </p:nvSpPr>
        <p:spPr>
          <a:xfrm>
            <a:off x="8636000" y="6159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D4A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207500" y="6070600"/>
            <a:ext cx="609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0EDE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Bundle classic pizzas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0EDE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higher AOV — pair with drinks or sides to increase ticket size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762000" y="7493000"/>
            <a:ext cx="14732000" cy="762000"/>
          </a:xfrm>
          <a:prstGeom prst="rect">
            <a:avLst/>
          </a:prstGeom>
          <a:solidFill>
            <a:srgbClr val="D4A03A"/>
          </a:solidFill>
          <a:ln/>
        </p:spPr>
      </p:sp>
      <p:sp>
        <p:nvSpPr>
          <p:cNvPr id="32" name="Text 30"/>
          <p:cNvSpPr/>
          <p:nvPr/>
        </p:nvSpPr>
        <p:spPr>
          <a:xfrm>
            <a:off x="1016000" y="7556500"/>
            <a:ext cx="142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4141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Impact: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14141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Improved understanding of sales performance | Demonstrated SQL analytics skills | Generated actionable business insights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4986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8A8A9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bgqw5tvjicdtk/mnt/agents/output/pizza_sales/images/5_Pizza_Dark_Background_Images_Browse.png">    </p:cNvPr>
          <p:cNvPicPr>
            <a:picLocks noChangeAspect="1"/>
          </p:cNvPicPr>
          <p:nvPr/>
        </p:nvPicPr>
        <p:blipFill>
          <a:blip r:embed="rId1"/>
          <a:srcRect l="0" r="0" t="7812" b="7812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41419">
                  <a:alpha val="19000"/>
                </a:srgbClr>
              </a:gs>
              <a:gs pos="35000">
                <a:srgbClr val="141419">
                  <a:alpha val="75000"/>
                </a:srgbClr>
              </a:gs>
              <a:gs pos="100000">
                <a:srgbClr val="141419">
                  <a:alpha val="96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3048000"/>
            <a:ext cx="2540000" cy="38100"/>
          </a:xfrm>
          <a:prstGeom prst="rect">
            <a:avLst/>
          </a:prstGeom>
          <a:solidFill>
            <a:srgbClr val="D4A03A"/>
          </a:solidFill>
          <a:ln/>
        </p:spPr>
      </p:sp>
      <p:sp>
        <p:nvSpPr>
          <p:cNvPr id="5" name="Text 2"/>
          <p:cNvSpPr/>
          <p:nvPr/>
        </p:nvSpPr>
        <p:spPr>
          <a:xfrm>
            <a:off x="3683000" y="3302000"/>
            <a:ext cx="889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600" spc="800" kern="0" dirty="0">
                <a:solidFill>
                  <a:srgbClr val="F0ED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858000" y="4508500"/>
            <a:ext cx="2540000" cy="38100"/>
          </a:xfrm>
          <a:prstGeom prst="rect">
            <a:avLst/>
          </a:prstGeom>
          <a:solidFill>
            <a:srgbClr val="D4A03A"/>
          </a:solidFill>
          <a:ln/>
        </p:spPr>
      </p:sp>
      <p:sp>
        <p:nvSpPr>
          <p:cNvPr id="7" name="Text 4"/>
          <p:cNvSpPr/>
          <p:nvPr/>
        </p:nvSpPr>
        <p:spPr>
          <a:xfrm>
            <a:off x="4318000" y="4826000"/>
            <a:ext cx="762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spc="300" kern="0" dirty="0">
                <a:solidFill>
                  <a:srgbClr val="D4A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PIZZA SALES ANALYSIS PROJECT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953000" y="53975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8A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SQL Data Analysis by Tanmay Guru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588000" y="5969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0EDE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Questions?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62000" y="8382000"/>
            <a:ext cx="2540000" cy="25400"/>
          </a:xfrm>
          <a:prstGeom prst="rect">
            <a:avLst/>
          </a:prstGeom>
          <a:solidFill>
            <a:srgbClr val="D4A03A">
              <a:alpha val="40000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Pizza Sales Analysis - SQL Data Analysis Project</dc:title>
  <dc:subject>Pizza Sales Analysis - SQL Data Analysis Project</dc:subject>
  <dc:creator>Kimi</dc:creator>
  <cp:lastModifiedBy>Kimi</cp:lastModifiedBy>
  <cp:revision>1</cp:revision>
  <dcterms:created xsi:type="dcterms:W3CDTF">2026-06-02T17:20:15Z</dcterms:created>
  <dcterms:modified xsi:type="dcterms:W3CDTF">2026-06-02T17:20:15Z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{"Label":"Pizza Sales Analysis - SQL Data Analysis Project","ContentProducer":"001191110108MACG2KBH8F10000","ProduceID":"19e89586-2582-89d4-8000-0000036d8a41","ReservedCode1":"","ContentPropagator":"001191110108MACG2KBH8F20000","PropagateID":"19e89586-2582-89d4-8000-0000036d8a41","ReservedCode2":""}</vt:lpwstr>
  </property>
</Properties>
</file>